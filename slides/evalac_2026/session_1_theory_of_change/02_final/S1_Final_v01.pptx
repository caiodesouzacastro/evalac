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 welcome (2 min). Logistics (1 min). Invite participants to introduce themselves with one sentence: name, country, current M&amp;E role (2 min). Keep this short — the session is dense.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Emphasize: all 5 sessions use the same case study. Session 2 picks up exactly where Session 1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objectives aloud; do not explain at length. Return to this slide at the end as a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Display results live if using Miro/Mentimeter. Briefly name the distribution. Do not turn Q3 into a discussion — collect and set aside. Use Q3 responses as real-world anchors.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vignette aloud (2 min). Pause on one question: 'Looking at this program — if it works, how exactly does that happen? What has to change?' Hold the question; do not answer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distinction: Outputs tell us what was done. They do NOT tell us whether anything changed. This is why we need a Theory of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chain on the board. Ask: 'Which of these boxes is easiest to measure? Which is hardest to attribute to the program?' — sets up the contribution analysis thread.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M&amp;E use the same Theory of Change. Building a good ToC today is foundational to everything that follows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 — Inputs: facilitators, curriculum, budget. Outputs: 85K caregivers, 36 sessions/yr. Direct outcomes: caregiver knowledge/behavior change. Distal outcomes: child development. Unintended: facilitator professional credentials, peer networks reduce maternal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COM-B is an analytical lens, not a checklist. Its value is forcing the question: what exactly needs to shift in the person for new behavior to become possible?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 (caregivers): Capability = milestones knowledge, responsive skills. Opportunity = peer group, materials, health services. Motivation = child response, peer norms, identity. Behavior = 45 min interaction, language-rich, no harsh discipline. Outcome = developmental gains by 24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'What surprises you? What would you add or question?' Take 2–3 responses. Keep brief — Block 4 will go deep on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assumptions identified are exactly the questions a contribution analysis must test. In Session 5, we will ask: which assumptions held? How strong is our contribution claim?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factors go on the edge of the ToC diagram. In evaluation design, we call these threats to internal validity. We return to them in Sessions 3–5.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did not just build a diagram. You built a set of evaluation questions. Evaluation design starts here — from the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Expected answers: Facilitator turnover rate (reach) — monthly HR records. Session attendance (capacity) — per group per session. Observed caregiver interaction (behavior) — structured observation at Month 3 and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question for participants: 'Think of a program you work with. What is the most critical assumption in its Theory of Change?'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EVALAC I — Introduction to M&amp;E</a:t>
            </a:r>
            <a:br/>
            <a:r>
              <a:t>and Theory of Change</a:t>
            </a:r>
          </a:p>
          <a:p>
            <a:pPr algn="l">
              <a:spcBef>
                <a:spcPts val="1600"/>
              </a:spcBef>
              <a:spcAft>
                <a:spcPts val="400"/>
              </a:spcAft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CLEAR-LAB  ·  IDB  ·  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How This Week Works: 5 Sessions, One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A7CBD"/>
                </a:solidFill>
                <a:latin typeface="Calibri"/>
              </a:defRPr>
            </a:pPr>
            <a:r>
              <a:t>Session 1: How is change intended to happen?  (Theory of Change)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Session 2: How do we measure it?  (Indicators &amp; Results Matrix)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Session 3: What qualitative evidence do we need?  (Qualitative Methods)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Session 4: What quantitative evidence do we need?  (Quantitative Methods)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Session 5: How strong is our contribution claim?  (Contribution Analysis)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2C5F8A"/>
                </a:solidFill>
                <a:latin typeface="Calibri"/>
              </a:defRPr>
            </a:pPr>
            <a:r>
              <a:t>All 5 sessions use the same case study. We build the ToC today and carry it forward all week.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What We Will Learn Today: Session 1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1.  Frame complex, multi-actor interventions as systems of change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2.  Explain why theory-based evaluation is essential and position the ToC as the starting point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3.  Describe how change is expected to happen: results, causal mechanisms, assumptions, and external influences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4.  Distinguish monitoring from evaluation and explain the role of the ToC in both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5.  Formulate evaluation questions that translate the ToC into evaluative inquiry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Diagnostic Survey: 3 Quick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Q1: Have you ever built or revised a Theory of Change?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757575"/>
                </a:solidFill>
                <a:latin typeface="Calibri"/>
              </a:defRPr>
            </a:pPr>
            <a:r>
              <a:t>    Yes  /  No  /  Tried, not sure it worked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Q2: What evaluation approach have you used most?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757575"/>
                </a:solidFill>
                <a:latin typeface="Calibri"/>
              </a:defRPr>
            </a:pPr>
            <a:r>
              <a:t>    RCT  /  Quasi-experimental  /  Process tracing  /  Contribution analysis  /  Other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Q3: What is your biggest M&amp;E challenge right now?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757575"/>
                </a:solidFill>
                <a:latin typeface="Calibri"/>
              </a:defRPr>
            </a:pPr>
            <a:r>
              <a:t>    (1 sentence in chat or sticky note)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Meet the Case: Creciendo Juntos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200" b="1" i="0">
                <a:solidFill>
                  <a:srgbClr val="1B3A5C"/>
                </a:solidFill>
                <a:latin typeface="Calibri"/>
              </a:defRPr>
            </a:pPr>
            <a:r>
              <a:t>THE CASE: Creciendo Juntos (Growing Together)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A five-year, government-run early childhood development program serving 180 municipalities in a LAC country.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Target group: children aged 0–3 from the poorest 40% of families.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Reached group: ~85,000 caregivers (mothers, fathers, grandmothers).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Four components: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•  Parenting group sessions (36/year)     •  Monthly home visits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•  Growth monitoring at health centers   •  Early learning centers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Budget: USD 285M over 5 years (~USD 1,140 per child/year). Delivered by 750 community facilitators.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1">
                <a:solidFill>
                  <a:srgbClr val="E86C00"/>
                </a:solidFill>
                <a:latin typeface="Calibri"/>
              </a:defRPr>
            </a:pPr>
            <a:r>
              <a:t>Central question: Does participation by caregivers improve child development outcomes by age 3?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BBDEFB"/>
                </a:solidFill>
                <a:latin typeface="Calibri"/>
              </a:rPr>
              <a:t>BLOCK 2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Interventions and Their Results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~55 minutes  ·  Slides 6–13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389120"/>
            <a:ext cx="3657600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What Is a Public Intervention?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INPUTS — What we invest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ACTIVITIES — What we do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OUTPUTS — What we deliver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750 facilitators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Parenting group sessions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85,000 caregivers reached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Curriculum materials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Home visits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36 sessions/group/year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USD 285M budget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Health center growth monitoring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750 facilitators deployed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What Are Results? Outcomes and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200" b="1" i="0">
                <a:solidFill>
                  <a:srgbClr val="2C5F8A"/>
                </a:solidFill>
                <a:latin typeface="Calibri"/>
              </a:defRPr>
            </a:pPr>
            <a:r>
              <a:t>OUTCOME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A change in knowledge, attitude, behavior, or condition of a person or system resulting from the intervention.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200" b="1" i="0">
                <a:solidFill>
                  <a:srgbClr val="2C5F8A"/>
                </a:solidFill>
                <a:latin typeface="Calibri"/>
              </a:defRPr>
            </a:pPr>
            <a:r>
              <a:t>IMPACT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Long-term, higher-order change attributable (in part) to the intervention — often at population level.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In Creciendo Juntos: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Outcome = Caregiver changes parenting behavior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Impact   = Child achieves age-appropriate development by age 3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E86C00"/>
                </a:solidFill>
                <a:latin typeface="Calibri"/>
              </a:defRPr>
            </a:pPr>
            <a:r>
              <a:t>“The program delivers sessions (output). Sessions are supposed to change caregivers (outcome). Changed caregivers are supposed to develop children (impact). But HOW does each step happen?”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The Results Chain: A Causal Map of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200" b="1" i="0">
                <a:solidFill>
                  <a:srgbClr val="1B3A5C"/>
                </a:solidFill>
                <a:latin typeface="Calibri"/>
              </a:defRPr>
            </a:pPr>
            <a:r>
              <a:t>INPUTS  →  ACTIVITIES  →  OUTPUTS  →  OUTCOMES  →  IMPACT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INPUTS: 750 facilitators · curriculum · USD 285M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ACTIVITIES: Parenting sessions · home visits · health center visits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OUTPUTS: 85,000 caregivers reached · 36 sessions per group per year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OUTCOMES: Caregiver behavior change (interaction quality, nutrition practices)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IMPACT: 65% of children achieve age-appropriate development by 24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Direct and Distal Outcomes: Why the Distinction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200" b="1" i="0">
                <a:solidFill>
                  <a:srgbClr val="2C5F8A"/>
                </a:solidFill>
                <a:latin typeface="Calibri"/>
              </a:defRPr>
            </a:pPr>
            <a:r>
              <a:t>DIRECT OUTCOME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Change in the group directly reached by the program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757575"/>
                </a:solidFill>
                <a:latin typeface="Calibri"/>
              </a:defRPr>
            </a:pPr>
            <a:r>
              <a:t>→  Caregivers gain knowledge, change behavior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200" b="1" i="0">
                <a:solidFill>
                  <a:srgbClr val="2C5F8A"/>
                </a:solidFill>
                <a:latin typeface="Calibri"/>
              </a:defRPr>
            </a:pPr>
            <a:r>
              <a:t>DISTAL OUTCOME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Change in the group ultimately targeted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757575"/>
                </a:solidFill>
                <a:latin typeface="Calibri"/>
              </a:defRPr>
            </a:pPr>
            <a:r>
              <a:t>→  Children show improved development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200" b="1" i="0">
                <a:solidFill>
                  <a:srgbClr val="E86C00"/>
                </a:solidFill>
                <a:latin typeface="Calibri"/>
              </a:defRPr>
            </a:pPr>
            <a:r>
              <a:t>THE INDIRECT PATHWAY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Program  →  Caregiver (direct)  →  Child (distal)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333333"/>
                </a:solidFill>
                <a:latin typeface="Calibri"/>
              </a:defRPr>
            </a:pPr>
            <a:r>
              <a:t>The program does NOT directly develop children’s brains. It develops caregivers’ capacity to develop children’s brains. This is why caregiver behavioral change is the critical mechanism.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Monitoring and Evaluation: Different Questions, Shared Theory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MONITORING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Are we delivering as planned?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Are outcomes occurring as expected?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Tracks outputs and early outcomes over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Tests whether the ToC holds — and why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Signal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Early warning: is the theory unfolding?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Strength of the contribution claim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Continuous — during implementation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Periodic — at key milestones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565C0"/>
                </a:solidFill>
                <a:latin typeface="Calibri"/>
              </a:rPr>
              <a:t>EXERCISE  </a:t>
            </a:r>
            <a:r>
              <a:rPr sz="1400" b="0" i="0">
                <a:solidFill>
                  <a:srgbClr val="757575"/>
                </a:solidFill>
                <a:latin typeface="Calibri"/>
              </a:rPr>
              <a:t>⏱ 15 min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600" b="1" i="0">
                <a:solidFill>
                  <a:srgbClr val="1B3A5C"/>
                </a:solidFill>
                <a:latin typeface="Calibri"/>
              </a:defRPr>
            </a:pPr>
            <a:r>
              <a:t>Exercise 1 — Map the Results Chain for Creciendo Juntos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 b="1" i="0">
                <a:solidFill>
                  <a:srgbClr val="757575"/>
                </a:solidFill>
                <a:latin typeface="Calibri"/>
              </a:defRPr>
            </a:pPr>
            <a:r>
              <a:t>15 min  (10 min groups + 5 min plenary)  ·  Small groups (3–4)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Using the 1-page vignette distributed at the start: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1.  Complete the results chain template for Creciendo Juntos.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  For each level, identify: (a) What is happening? (b) Who is involved? (c) Direct or distal?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2.  Identify ONE change that was probably NOT planned by the program.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3.  Be ready to share: What is the program trying to change, and in whom?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600" b="0" i="1">
                <a:solidFill>
                  <a:srgbClr val="757575"/>
                </a:solidFill>
                <a:latin typeface="Calibri"/>
              </a:defRPr>
            </a:pPr>
            <a:r>
              <a:t>Materials: 1-page case vignette  ·  Results chain blank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E86C00"/>
                </a:solidFill>
                <a:latin typeface="Calibri"/>
              </a:rPr>
              <a:t>DEBRIEF  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600" b="1" i="0">
                <a:solidFill>
                  <a:srgbClr val="1B3A5C"/>
                </a:solidFill>
                <a:latin typeface="Calibri"/>
              </a:defRPr>
            </a:pPr>
            <a:r>
              <a:t>Debrief: The Indirect Pathway Is the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Most groups correctly identify outputs but struggle with the mechanism between outputs and outcomes — this gap is intentional.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Critical distinction: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The program delivers services to caregivers (direct) and expects children to benefit (distal).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What is missing from the results chain: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E86C00"/>
                </a:solidFill>
                <a:latin typeface="Calibri"/>
              </a:defRPr>
            </a:pPr>
            <a:r>
              <a:t>It tells us WHAT should happen, not WHY or HOW.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2C5F8A"/>
                </a:solidFill>
                <a:latin typeface="Calibri"/>
              </a:defRPr>
            </a:pPr>
            <a:r>
              <a:t>“What you just built is a results chain. It is necessary — but not sufficient. A Theory of Change adds three things: causal mechanisms, causal assumptions, and external influences.”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Unintended Outcomes and Evaluation Breadth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Programs regularly generate effects beyond the intended results chain.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A good Theory of Change flags plausible unintended pathways — not to manage all of them, but to avoid being surprised.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Examples from Creciendo Juntos: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•  Facilitators develop professional credentials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•  Peer networks reduce maternal depression and isolation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2C5F8A"/>
                </a:solidFill>
                <a:latin typeface="Calibri"/>
              </a:defRPr>
            </a:pPr>
            <a:r>
              <a:t>Transition: We know WHAT should change. But WHY should it change — and HOW exactly?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BBDEFB"/>
                </a:solidFill>
                <a:latin typeface="Calibri"/>
              </a:rPr>
              <a:t>BLOCK 3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Theory of Change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~70 minutes  ·  Slides 14–21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389120"/>
            <a:ext cx="3657600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What Is a Theory of Change?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200" b="1" i="0">
                <a:solidFill>
                  <a:srgbClr val="E86C00"/>
                </a:solidFill>
                <a:latin typeface="Calibri"/>
              </a:defRPr>
            </a:pPr>
            <a:r>
              <a:t>DEFINITION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A Theory of Change is a causal argument that explains how and why an intervention is expected to produce change.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It specifies: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(1) The results chain    (2) The causal mechanisms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(3) The causal assumptions    (4) External influences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1B3A5C"/>
                </a:solidFill>
                <a:latin typeface="Calibri"/>
              </a:defRPr>
            </a:pPr>
            <a:r>
              <a:t>What makes it different from a logic model: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•  A logic model describes; a ToC argues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•  A logic model says “if we do X, then Y”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  A ToC says “if we do X, then Y, BECAUSE OF Z, assuming A and B hold”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•  A ToC makes the mechanism and assumptions explicit — and therefore testable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400" b="0" i="1">
                <a:solidFill>
                  <a:srgbClr val="757575"/>
                </a:solidFill>
                <a:latin typeface="Calibri"/>
              </a:defRPr>
            </a:pPr>
            <a:r>
              <a:t>Rogers (2008); Koleros &amp; Mayne (2017)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What Is Missing from the Results Chain?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757575"/>
                </a:solidFill>
                <a:latin typeface="Calibri"/>
              </a:defRPr>
            </a:pPr>
            <a:r>
              <a:t>Results chain says: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Sessions delivered  →  Caregiver behavior change  →  Child development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200" b="1" i="0">
                <a:solidFill>
                  <a:srgbClr val="E86C00"/>
                </a:solidFill>
                <a:latin typeface="Calibri"/>
              </a:defRPr>
            </a:pPr>
            <a:r>
              <a:t>But does NOT explain: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WHY would a session change caregiver behavior?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A7CBD"/>
                </a:solidFill>
                <a:latin typeface="Calibri"/>
              </a:defRPr>
            </a:pPr>
            <a:r>
              <a:t>→  Causal mechanism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WHAT must be true for that change to happen?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A7CBD"/>
                </a:solidFill>
                <a:latin typeface="Calibri"/>
              </a:defRPr>
            </a:pPr>
            <a:r>
              <a:t>→  Causal assumptions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WHAT else could produce the observed outcome?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A7CBD"/>
                </a:solidFill>
                <a:latin typeface="Calibri"/>
              </a:defRPr>
            </a:pPr>
            <a:r>
              <a:t>→  External influences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2C5F8A"/>
                </a:solidFill>
                <a:latin typeface="Calibri"/>
              </a:defRPr>
            </a:pPr>
            <a:r>
              <a:t>“The jump from sessions delivered to child development improved is not self-evident. It is a theory. And like any theory, it can be wrong.”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Causal Mechanisms: How Does Change Actually Happen?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A causal mechanism is the process through which an output produces an outcome.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1B3A5C"/>
                </a:solidFill>
                <a:latin typeface="Calibri"/>
              </a:defRPr>
            </a:pPr>
            <a:r>
              <a:t>Key distinctions: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•  Mechanisms are NOT activities — activities produce outputs; mechanisms explain how outputs produce outcomes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•  In theory-based evaluation, we test mechanisms directly — not just outcomes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E86C00"/>
                </a:solidFill>
                <a:latin typeface="Calibri"/>
              </a:defRPr>
            </a:pPr>
            <a:r>
              <a:t>EXAMPLE: CRECIENDO JUNTOS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Activity: 36 parenting group sessions delivered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Mechanism: Sessions increase caregiver CAPABILITY (knowledge), create OPPORTUNITY (peer networks), build MOTIVATION (parental identity)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Outcome: Caregivers change daily interaction behaviors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Distal outcome: Children experience improved stimulation → developmental gains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2C5F8A"/>
                </a:solidFill>
                <a:latin typeface="Calibri"/>
              </a:defRPr>
            </a:pPr>
            <a:r>
              <a:t>“The mechanism is what sessions are supposed to trigger in caregivers. If the mechanism does not fire, sessions may be delivered but nothing changes.”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COM-B: Capability, Opportunity, Motivation → Behavior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 Creciendo Juntos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CAPABILITY (C)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a person knows and can do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Caregiver learns developmental milestones, responsive play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OPPORTUNITY (O)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the environment enables or constrains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Peer group forms, materials distributed, health visits accessible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MOTIVATION (M)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drives action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Child responds positively; new identity: "I am my child's first teacher"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→ BEHAVIOR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Observable action that produces the outcome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Daily responsive interaction: 15 → 45 min; harsh discipline replaced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COM-B in Creciendo Juntos: Tracing the Pathway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1B3A5C"/>
                </a:solidFill>
                <a:latin typeface="Calibri"/>
              </a:defRPr>
            </a:pPr>
            <a:r>
              <a:t>CJ Sessions  →  [C] + [O] + [M]  →  Behavior change  →  Child development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A7CBD"/>
                </a:solidFill>
                <a:latin typeface="Calibri"/>
              </a:defRPr>
            </a:pPr>
            <a:r>
              <a:t>CAPABILITY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Knowledge of child development stages  ·  Skill in responsive interaction  ·  Self-efficacy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A7CBD"/>
                </a:solidFill>
                <a:latin typeface="Calibri"/>
              </a:defRPr>
            </a:pPr>
            <a:r>
              <a:t>OPPORTUNITY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Peer support group  ·  Learning materials  ·  Health center access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A7CBD"/>
                </a:solidFill>
                <a:latin typeface="Calibri"/>
              </a:defRPr>
            </a:pPr>
            <a:r>
              <a:t>MOTIVATION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Emotional reward from child’s positive response  ·  Peer norms  ·  New parental identity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E86C00"/>
                </a:solidFill>
                <a:latin typeface="Calibri"/>
              </a:defRPr>
            </a:pPr>
            <a:r>
              <a:t>BEHAVIOR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Responsive interaction ↑  ·  Positive discipline  ·  Enriched home environment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2C5F8A"/>
                </a:solidFill>
                <a:latin typeface="Calibri"/>
              </a:defRPr>
            </a:pPr>
            <a:r>
              <a:t>“We traced the mechanism for one actor — the caregiver. In the exercise, you will go deeper.”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565C0"/>
                </a:solidFill>
                <a:latin typeface="Calibri"/>
              </a:rPr>
              <a:t>EXERCISE  </a:t>
            </a:r>
            <a:r>
              <a:rPr sz="1400" b="0" i="0">
                <a:solidFill>
                  <a:srgbClr val="757575"/>
                </a:solidFill>
                <a:latin typeface="Calibri"/>
              </a:rPr>
              <a:t>⏱ 20 min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600" b="1" i="0">
                <a:solidFill>
                  <a:srgbClr val="1B3A5C"/>
                </a:solidFill>
                <a:latin typeface="Calibri"/>
              </a:defRPr>
            </a:pPr>
            <a:r>
              <a:t>Exercise 2 — Build the Causal Pathway for Creciendo Juntos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 b="1" i="0">
                <a:solidFill>
                  <a:srgbClr val="757575"/>
                </a:solidFill>
                <a:latin typeface="Calibri"/>
              </a:defRPr>
            </a:pPr>
            <a:r>
              <a:t>20 min  (15 min groups + 5 min plenary)  ·  Pairs or small groups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Choose ONE reached group: (a) caregivers, or (b) community health workers.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For your chosen group, trace the complete causal pathway: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(a) CAPABILITY: What must this person know or be able to do?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(b) OPPORTUNITY: What environmental conditions must be present?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(c) MOTIVATION: What must shift in their sense of purpose or habit?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(d) BEHAVIOR: What specific observable action should change?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(e) OUTCOME: What change does this behavior produce in the target group?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Add your pathway to the results chain template from Exercise 1.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600" b="0" i="1">
                <a:solidFill>
                  <a:srgbClr val="757575"/>
                </a:solidFill>
                <a:latin typeface="Calibri"/>
              </a:defRPr>
            </a:pPr>
            <a:r>
              <a:t>Materials: Results chain template from Ex. 1  ·  COM-B lens 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E86C00"/>
                </a:solidFill>
                <a:latin typeface="Calibri"/>
              </a:rPr>
              <a:t>DEBRIEF  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600" b="1" i="0">
                <a:solidFill>
                  <a:srgbClr val="1B3A5C"/>
                </a:solidFill>
                <a:latin typeface="Calibri"/>
              </a:defRPr>
            </a:pPr>
            <a:r>
              <a:t>Debrief: Connecting Outputs → Behaviors →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The behavioral mechanism is what sessions are supposed to trigger. Without it, outputs do not produce outcomes.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Different groups trace different pathways — both matter.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The pathway you traced is a hypothesis. Each link depends on something being true.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2C5F8A"/>
                </a:solidFill>
                <a:latin typeface="Calibri"/>
              </a:defRPr>
            </a:pPr>
            <a:r>
              <a:t>“You have built the core of the Theory of Change. The next question is: what are we assuming? What must be true for each link to hold?”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The Creciendo Juntos ToC: The Full Causal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200" b="1" i="0">
                <a:solidFill>
                  <a:srgbClr val="1B3A5C"/>
                </a:solidFill>
                <a:latin typeface="Calibri"/>
              </a:defRPr>
            </a:pPr>
            <a:r>
              <a:t>Four layers of the Theory of Change: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██  Layer 1 — Results chain (Exercise 1)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  INPUTS → ACTIVITIES → OUTPUTS → OUTCOMES → IMPACT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A7CBD"/>
                </a:solidFill>
                <a:latin typeface="Calibri"/>
              </a:defRPr>
            </a:pPr>
            <a:r>
              <a:t>██  Layer 2 — Behavioral mechanism / COM-B (Exercise 2)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  Capability + Opportunity + Motivation → Behavior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E86C00"/>
                </a:solidFill>
                <a:latin typeface="Calibri"/>
              </a:defRPr>
            </a:pPr>
            <a:r>
              <a:t>██  Layer 3 — Causal assumptions, classified by level (Exercise 3)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  Reach · Capacity · Behavior · Outcome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757575"/>
                </a:solidFill>
                <a:latin typeface="Calibri"/>
              </a:defRPr>
            </a:pPr>
            <a:r>
              <a:t>██  Layer 4 — External influences (Exercise 4)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  Contextual factors · Rival explanations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2C5F8A"/>
                </a:solidFill>
                <a:latin typeface="Calibri"/>
              </a:defRPr>
            </a:pPr>
            <a:r>
              <a:t>“What surprises you? What would you add or question?”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BBDEFB"/>
                </a:solidFill>
                <a:latin typeface="Calibri"/>
              </a:rPr>
              <a:t>BLOCK 4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Assumptions and External Influences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~65 minutes  ·  Slides 22–29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389120"/>
            <a:ext cx="3657600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What Are Causal Assumptions?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200" b="1" i="0">
                <a:solidFill>
                  <a:srgbClr val="E86C00"/>
                </a:solidFill>
                <a:latin typeface="Calibri"/>
              </a:defRPr>
            </a:pPr>
            <a:r>
              <a:t>DEFINITION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A causal assumption is a condition that must hold for one level of the results chain to produce the next.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If an assumption is violated, the expected causal link breaks — even if the program is implemented correctly.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1B3A5C"/>
                </a:solidFill>
                <a:latin typeface="Calibri"/>
              </a:defRPr>
            </a:pPr>
            <a:r>
              <a:t>EXAMPLE FROM CRECIENDO JUNTOS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Link: Parenting sessions delivered → Caregivers change behavior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Assumption: “Attendance is sufficient to build capability and motivation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(caregivers attend ≥ 70% of sessions)”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E86C00"/>
                </a:solidFill>
                <a:latin typeface="Calibri"/>
              </a:defRPr>
            </a:pPr>
            <a:r>
              <a:t>  If violated: Sessions delivered but caregivers attend sporadically → capability does not build → behavior does not change → outcomes not reached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2C5F8A"/>
                </a:solidFill>
                <a:latin typeface="Calibri"/>
              </a:defRPr>
            </a:pPr>
            <a:r>
              <a:t>“This is why monitoring attendance is not optional. If this assumption breaks, everything downstream breaks with it.”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Types of Assumptions: Classifying by Results Chain Level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Assumption Type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 It Answers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CJ Example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Can the program reach the intended population?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Facilitators can be recruited and retained in target communities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Does the intervention build the required COM-B shift?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Sessions delivered with sufficient quality to build caregiver capability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BEHAVIOR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Does changed COM-B produce behavior change?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Knowledge and motivation translate to daily behavior change (not just during sessions)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Does behavior change produce the expected outcome?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Changed caregiver behavior sustained 18+ months produces developmental gains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Critical Assumptions: Which Links Are Most Fragile?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1B3A5C"/>
                </a:solidFill>
                <a:latin typeface="Calibri"/>
              </a:defRPr>
            </a:pPr>
            <a:r>
              <a:t>A critical assumption is one that: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1.  Is ESSENTIAL — if it breaks, outcomes cannot be reached regardless of delivery quality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2.  Is UNCERTAIN — we have limited evidence that it holds in this context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3.  Is TESTABLE — we can design monitoring or evaluation to check it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E86C00"/>
                </a:solidFill>
                <a:latin typeface="Calibri"/>
              </a:defRPr>
            </a:pPr>
            <a:r>
              <a:t>TWO CANDIDATE CRITICAL ASSUMPTIONS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Assumption B1 (BEHAVIOR):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333333"/>
                </a:solidFill>
                <a:latin typeface="Calibri"/>
              </a:defRPr>
            </a:pPr>
            <a:r>
              <a:t>“Caregivers who increase knowledge in sessions also change their daily parenting behaviors at home, not just during observed sessions.”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757575"/>
                </a:solidFill>
                <a:latin typeface="Calibri"/>
              </a:defRPr>
            </a:pPr>
            <a:r>
              <a:t>CRITICAL because behavioral generalization is uncertain and rarely measured.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Assumption O1 (OUTCOME):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333333"/>
                </a:solidFill>
                <a:latin typeface="Calibri"/>
              </a:defRPr>
            </a:pPr>
            <a:r>
              <a:t>“Changed parenting behavior, sustained for 18 months, is sufficient to produce measurable developmental gains in children by age 3.”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757575"/>
                </a:solidFill>
                <a:latin typeface="Calibri"/>
              </a:defRPr>
            </a:pPr>
            <a:r>
              <a:t>CRITICAL because the dose-response relationship is unclear for multi-risk households.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565C0"/>
                </a:solidFill>
                <a:latin typeface="Calibri"/>
              </a:rPr>
              <a:t>EXERCISE  </a:t>
            </a:r>
            <a:r>
              <a:rPr sz="1400" b="0" i="0">
                <a:solidFill>
                  <a:srgbClr val="757575"/>
                </a:solidFill>
                <a:latin typeface="Calibri"/>
              </a:rPr>
              <a:t>⏱ 20 min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600" b="1" i="0">
                <a:solidFill>
                  <a:srgbClr val="1B3A5C"/>
                </a:solidFill>
                <a:latin typeface="Calibri"/>
              </a:defRPr>
            </a:pPr>
            <a:r>
              <a:t>Exercise 3 — Identify and Classify Assumptions in the ToC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 b="1" i="0">
                <a:solidFill>
                  <a:srgbClr val="757575"/>
                </a:solidFill>
                <a:latin typeface="Calibri"/>
              </a:defRPr>
            </a:pPr>
            <a:r>
              <a:t>20 min  (15 min groups + 5 min plenary)  ·  Small groups (3–4)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Using the Creciendo Juntos ToC from Slide 21: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1.  Identify at least ONE assumption per level: reach, capacity, behavior, outcome.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4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2.  Write each assumption as a complete sentence: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333333"/>
                </a:solidFill>
                <a:latin typeface="Calibri"/>
              </a:defRPr>
            </a:pPr>
            <a:r>
              <a:t>    “IF [condition], THEN the link holds.”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4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3.  Mark which TWO assumptions you consider most critical for this program’s success.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4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4.  Be ready to explain: Why did you choose these two? What evidence would test them?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Add your assumptions to the ToC template — they should annotate each causal arrow.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600" b="0" i="1">
                <a:solidFill>
                  <a:srgbClr val="757575"/>
                </a:solidFill>
                <a:latin typeface="Calibri"/>
              </a:defRPr>
            </a:pPr>
            <a:r>
              <a:t>Materials: ToC template (annotated from Ex. 1 &amp; 2)  ·  Assumption classification 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E86C00"/>
                </a:solidFill>
                <a:latin typeface="Calibri"/>
              </a:rPr>
              <a:t>DEBRIEF  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600" b="1" i="0">
                <a:solidFill>
                  <a:srgbClr val="1B3A5C"/>
                </a:solidFill>
                <a:latin typeface="Calibri"/>
              </a:defRPr>
            </a:pPr>
            <a:r>
              <a:t>Debrief: Which Assumptions Are Most Fragile?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Most groups identify Behavior assumptions as most critical — good: this is where most ECD programs fail.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An assumption is only useful if it is testable.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Critical assumptions become monitoring indicators AND evaluation questions.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E86C00"/>
                </a:solidFill>
                <a:latin typeface="Calibri"/>
              </a:defRPr>
            </a:pPr>
            <a:r>
              <a:t>CONNECTION TO EVALUATION QUESTIONS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2C5F8A"/>
                </a:solidFill>
                <a:latin typeface="Calibri"/>
              </a:defRPr>
            </a:pPr>
            <a:r>
              <a:t>“If the critical assumption is ‘caregivers change daily behavior,’ the evaluation question is: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2C5F8A"/>
                </a:solidFill>
                <a:latin typeface="Calibri"/>
              </a:defRPr>
            </a:pPr>
            <a:r>
              <a:t>Did caregivers actually change their daily parenting behavior — and if so, how much, for whom, and under what conditions?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2C5F8A"/>
                </a:solidFill>
                <a:latin typeface="Calibri"/>
              </a:defRPr>
            </a:pPr>
            <a:r>
              <a:t>That is what Session 5 will help you answer.”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External Influences: What Is Outside the Program’s Control?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200" b="1" i="0">
                <a:solidFill>
                  <a:srgbClr val="2C5F8A"/>
                </a:solidFill>
                <a:latin typeface="Calibri"/>
              </a:defRPr>
            </a:pPr>
            <a:r>
              <a:t>CONTEXTUAL FACTORS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Structural conditions that shape whether the mechanism can function: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757575"/>
                </a:solidFill>
                <a:latin typeface="Calibri"/>
              </a:defRPr>
            </a:pPr>
            <a:r>
              <a:t>  economy, political stability, health system quality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200" b="1" i="0">
                <a:solidFill>
                  <a:srgbClr val="2C5F8A"/>
                </a:solidFill>
                <a:latin typeface="Calibri"/>
              </a:defRPr>
            </a:pPr>
            <a:r>
              <a:t>RIVAL EXPLANATIONS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Alternative causes of the observed outcome that would have occurred without the program: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757575"/>
                </a:solidFill>
                <a:latin typeface="Calibri"/>
              </a:defRPr>
            </a:pPr>
            <a:r>
              <a:t>  natural development, another program, a social trend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E86C00"/>
                </a:solidFill>
                <a:latin typeface="Calibri"/>
              </a:defRPr>
            </a:pPr>
            <a:r>
              <a:t>WHY BOTH MATTER FOR EVALUATION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Contextual factors can violate assumptions — e.g., severe food insecurity may mean that even improved parenting behavior does not translate to developmental gains.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Rival explanations: if children improve even in control communities, the program’s contribution is less clear. Evaluators must rule out or account for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565C0"/>
                </a:solidFill>
                <a:latin typeface="Calibri"/>
              </a:rPr>
              <a:t>EXERCISE  </a:t>
            </a:r>
            <a:r>
              <a:rPr sz="1400" b="0" i="0">
                <a:solidFill>
                  <a:srgbClr val="757575"/>
                </a:solidFill>
                <a:latin typeface="Calibri"/>
              </a:rPr>
              <a:t>⏱ 10 min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600" b="1" i="0">
                <a:solidFill>
                  <a:srgbClr val="1B3A5C"/>
                </a:solidFill>
                <a:latin typeface="Calibri"/>
              </a:defRPr>
            </a:pPr>
            <a:r>
              <a:t>Exercise 4 — External Influences Scan (Full-Group Discussion)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 b="1" i="0">
                <a:solidFill>
                  <a:srgbClr val="757575"/>
                </a:solidFill>
                <a:latin typeface="Calibri"/>
              </a:defRPr>
            </a:pPr>
            <a:r>
              <a:t>10 min  ·  Facilitated group discussion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Q1: What are the 2–3 most important external factors that could affect whether Creciendo Juntos achieves its outcomes?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757575"/>
                </a:solidFill>
                <a:latin typeface="Calibri"/>
              </a:defRPr>
            </a:pPr>
            <a:r>
              <a:t>    (Facilitator records on board)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Q2: Which of these could be a rival explanation for observed improvements?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  Which could make outcomes improve even if the program had no effect?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Q3: Which critical assumption from Exercise 3 is most vulnerable to these external factors?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1B3A5C"/>
                </a:solidFill>
                <a:latin typeface="Calibri"/>
              </a:defRPr>
            </a:pPr>
            <a:r>
              <a:t>Expected contributions: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•  Economic conditions (recession → food insecurity)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•  Political instability (budget cut, municipal support withdrawn)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•  Other social programs (CCTs improving household conditions)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•  Natural disasters / pandemics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The Complete Theory of Change: Four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4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333333"/>
                </a:solidFill>
                <a:latin typeface="Calibri"/>
              </a:defRPr>
            </a:pPr>
            <a:r>
              <a:t>██  LAYER 1 — Results chain (Exercise 1)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  Inputs → Activities → Outputs → Outcomes → Impact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3A7CBD"/>
                </a:solidFill>
                <a:latin typeface="Calibri"/>
              </a:defRPr>
            </a:pPr>
            <a:r>
              <a:t>██  LAYER 2 — Behavioral mechanism / COM-B (Exercise 2)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  C + O + M → Behavior change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E86C00"/>
                </a:solidFill>
                <a:latin typeface="Calibri"/>
              </a:defRPr>
            </a:pPr>
            <a:r>
              <a:t>██  LAYER 3 — Causal assumptions (Exercise 3)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  Classified: Reach · Capacity · Behavior · Outcome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757575"/>
                </a:solidFill>
                <a:latin typeface="Calibri"/>
              </a:defRPr>
            </a:pPr>
            <a:r>
              <a:t>██  LAYER 4 — External influences (Exercise 4)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  Contextual factors + Rival explanations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2C5F8A"/>
                </a:solidFill>
                <a:latin typeface="Calibri"/>
              </a:defRPr>
            </a:pPr>
            <a:r>
              <a:t>“This is a Theory of Change. It is not a diagram — it is an argument. You can now use it to design evaluation questions, select indicators, and assess your contribution claim.”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BBDEFB"/>
                </a:solidFill>
                <a:latin typeface="Calibri"/>
              </a:rPr>
              <a:t>BLOCK 5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M&amp;E and Bridge to Session 2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~30 minutes  ·  Slides 30–41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389120"/>
            <a:ext cx="3657600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ToC and Evaluation Questions: Making the Theory Testable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Critical Assumption (from Exercise 3)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Question It Generates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Behavior: Caregivers change daily practices, not just session behavior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Did caregivers change their daily interaction behavior at home? For whom? To what extent?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Outcome: Changed behavior, sustained 18 months, produces developmental gains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Is there a relationship between intensity of caregiver behavior change and child outcomes?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Reach: Facilitators can be retained for program duration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 is the facilitator turnover rate and how does it affect session continuity and trust?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Monitoring: Watching the ToC Unfold in Real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Monitoring observes: reach, outputs, and early behavioral signals.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Monitoring does not test the ToC — it signals whether conditions for the ToC to function are present.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1B3A5C"/>
                </a:solidFill>
                <a:latin typeface="Calibri"/>
              </a:defRPr>
            </a:pPr>
            <a:r>
              <a:t>Example: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If monitoring shows low attendance → reach assumption may be breaking → evaluator can investigate before outcomes are affected.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E86C00"/>
                </a:solidFill>
                <a:latin typeface="Calibri"/>
              </a:defRPr>
            </a:pPr>
            <a:r>
              <a:t>CONNECTION TO SESSION 2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2C5F8A"/>
                </a:solidFill>
                <a:latin typeface="Calibri"/>
              </a:defRPr>
            </a:pPr>
            <a:r>
              <a:t>“What you monitor is determined by your ToC. In Session 2, we will take this results chain and ask: what indicator would tell us whether each level is happening? That is the Results Matrix.”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565C0"/>
                </a:solidFill>
                <a:latin typeface="Calibri"/>
              </a:rPr>
              <a:t>EXERCISE  </a:t>
            </a:r>
            <a:r>
              <a:rPr sz="1400" b="0" i="0">
                <a:solidFill>
                  <a:srgbClr val="757575"/>
                </a:solidFill>
                <a:latin typeface="Calibri"/>
              </a:rPr>
              <a:t>⏱ 8 min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600" b="1" i="0">
                <a:solidFill>
                  <a:srgbClr val="1B3A5C"/>
                </a:solidFill>
                <a:latin typeface="Calibri"/>
              </a:defRPr>
            </a:pPr>
            <a:r>
              <a:t>Exercise 5 — What Would You Monitor First? (Optional)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 b="1" i="0">
                <a:solidFill>
                  <a:srgbClr val="757575"/>
                </a:solidFill>
                <a:latin typeface="Calibri"/>
              </a:defRPr>
            </a:pPr>
            <a:r>
              <a:t>8 min  (5 min pairs + 3 min share-out)  ·  Can be assigned as homework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Looking at the completed Creciendo Juntos ToC: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1.  Choose the THREE variables you would monitor most closely in the first 6 months.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4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2.  For each: (a) What would you measure? (b) Who would you observe or survey? (c) When?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4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3.  Explain: Why these three? What would each tell you about whether the ToC is unfolding?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2C5F8A"/>
                </a:solidFill>
                <a:latin typeface="Calibri"/>
              </a:defRPr>
            </a:pPr>
            <a:r>
              <a:t>Note: These are proto-indicators. In Session 2, we will formalize them into a Results Matrix.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Evaluation: Testing the ToC at Outcome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1B3A5C"/>
                </a:solidFill>
                <a:latin typeface="Calibri"/>
              </a:defRPr>
            </a:pPr>
            <a:r>
              <a:t>Evaluation asks: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Did expected outcomes occur?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Did the theory’s mechanisms function as hypothesized?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1B3A5C"/>
                </a:solidFill>
                <a:latin typeface="Calibri"/>
              </a:defRPr>
            </a:pPr>
            <a:r>
              <a:t>Contribution analysis (Session 5):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333333"/>
                </a:solidFill>
                <a:latin typeface="Calibri"/>
              </a:defRPr>
            </a:pPr>
            <a:r>
              <a:t>“Given what we observe, how strong is our claim that the program contributed to these outcomes?”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The ToC built today is the foundation of the contribution claim — every assumption identified is a piece of evidence to test.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E86C00"/>
                </a:solidFill>
                <a:latin typeface="Calibri"/>
              </a:defRPr>
            </a:pPr>
            <a:r>
              <a:t>THREAD TO SESSIONS 3–5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Sessions 3 and 4: What qualitative and quantitative evidence would let you test whether each mechanism and assumption held?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Session 5: Brings all evidence into a contribution claim.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2C5F8A"/>
                </a:solidFill>
                <a:latin typeface="Calibri"/>
              </a:defRPr>
            </a:pPr>
            <a:r>
              <a:t>Today’s ToC is the 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From ToC to Results Matrix: 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TODAY YOU BUILT: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✓  A results chain (Exercise 1)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✓  A causal mechanism layer — COM-B (Exercise 2)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✓  A classified assumption list (Exercise 3)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✓  An external influence map (Exercise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SESSION 2 WILL ASK: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700" b="0" i="1">
                <a:solidFill>
                  <a:srgbClr val="2C5F8A"/>
                </a:solidFill>
                <a:latin typeface="Calibri"/>
              </a:defRPr>
            </a:pPr>
            <a:r>
              <a:t>“What indicator would tell us whether each level is happening?”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700" b="0" i="1">
                <a:solidFill>
                  <a:srgbClr val="2C5F8A"/>
                </a:solidFill>
                <a:latin typeface="Calibri"/>
              </a:defRPr>
            </a:pPr>
            <a:r>
              <a:t>“What source? What frequency? What baseline?”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20624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772400"/>
              </a:tblGrid>
              <a:tr h="32657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Element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Results chain level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Caregiver behavior change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Indicator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% of caregivers observed engaging in ≥ 3 responsive interaction activities per hour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Behavioral (mechanism) indicator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15% of caregivers at enrollment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65% at Month 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Structured observation at home visits (Months 3, 6, 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BBDEFB"/>
                </a:solidFill>
                <a:latin typeface="Calibri"/>
              </a:rPr>
              <a:t>CLOSURE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Takeaways · Survey · Pre-reading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~15 minutes  ·  Slides 35–44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389120"/>
            <a:ext cx="3657600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Key Takeaways: Returning to the 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2E7D32"/>
                </a:solidFill>
                <a:latin typeface="Calibri"/>
              </a:defRPr>
            </a:pPr>
            <a:r>
              <a:t>✓  Frame complex interventions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 Creciendo Juntos reaches caregivers to change children; the indirect pathway is the mechanism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2E7D32"/>
                </a:solidFill>
                <a:latin typeface="Calibri"/>
              </a:defRPr>
            </a:pPr>
            <a:r>
              <a:t>✓  Explain theory-based evaluation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 The results chain alone is insufficient; mechanisms, assumptions, and external influences are essential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2E7D32"/>
                </a:solidFill>
                <a:latin typeface="Calibri"/>
              </a:defRPr>
            </a:pPr>
            <a:r>
              <a:t>✓  Describe a Theory of Change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 Four layers: results chain, mechanisms, assumptions, external influences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2E7D32"/>
                </a:solidFill>
                <a:latin typeface="Calibri"/>
              </a:defRPr>
            </a:pPr>
            <a:r>
              <a:t>✓  Distinguish M&amp;E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 Monitoring watches the ToC unfold; evaluation tests whether it held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6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2E7D32"/>
                </a:solidFill>
                <a:latin typeface="Calibri"/>
              </a:defRPr>
            </a:pPr>
            <a:r>
              <a:t>✓  Formulate evaluation questions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 Each critical assumption generates a specific evaluative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Pre-reading for Session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400" b="1" i="0">
                <a:solidFill>
                  <a:srgbClr val="E86C00"/>
                </a:solidFill>
                <a:latin typeface="Calibri"/>
              </a:defRPr>
            </a:pPr>
            <a:r>
              <a:t>BEFORE SESSION 2 — READ: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000" b="1" i="0">
                <a:solidFill>
                  <a:srgbClr val="333333"/>
                </a:solidFill>
                <a:latin typeface="Calibri"/>
              </a:defRPr>
            </a:pPr>
            <a:r>
              <a:t>Creciendo Juntos: Narrative Part 1, Pages 1–4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757575"/>
                </a:solidFill>
                <a:latin typeface="Calibri"/>
              </a:defRPr>
            </a:pPr>
            <a:r>
              <a:t>(Program design and implementation structure)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Focus on: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•  How are the four components coordinated?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  •  What roles do facilitators, health staff, and coordinators play?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1">
                <a:solidFill>
                  <a:srgbClr val="333333"/>
                </a:solidFill>
                <a:latin typeface="Calibri"/>
              </a:defRPr>
            </a:pPr>
            <a:r>
              <a:t>In Session 2, we will use this program design to populate a full Results Matrix — one indicator set per results chain level.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757575"/>
                </a:solidFill>
                <a:latin typeface="Calibri"/>
              </a:defRPr>
            </a:pPr>
            <a:r>
              <a:t>Estimated reading time: 15–20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Closing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 b="0" i="0">
                <a:solidFill>
                  <a:srgbClr val="757575"/>
                </a:solidFill>
                <a:latin typeface="Calibri"/>
              </a:defRPr>
            </a:pPr>
            <a:r>
              <a:t>Standard course satisfaction items (per OVE format)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2200" b="1" i="0">
                <a:solidFill>
                  <a:srgbClr val="1B3A5C"/>
                </a:solidFill>
                <a:latin typeface="Calibri"/>
              </a:defRPr>
            </a:pPr>
            <a:r>
              <a:t>EVALUATIVE QUESTIONS: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Q1: In one sentence: what is the causal mechanism in the Creciendo Juntos Theory of Change?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Q2: What is the most critical assumption in a Theory of Change you currently work with?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600" b="0" i="1">
                <a:solidFill>
                  <a:srgbClr val="757575"/>
                </a:solidFill>
                <a:latin typeface="Calibri"/>
              </a:defRPr>
            </a:pPr>
            <a:r>
              <a:t>These are formative assessment items that feed directly into the EVALAC pre/post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Calibri"/>
              </a:defRPr>
            </a:pPr>
            <a:r>
              <a:t>Reference: Glossary of 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Results chain: The logical sequence linking inputs → activities → outputs → outcomes → impact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Theory of Change: A causal argument specifying the results chain, causal mechanisms, assumptions, and external influences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Causal mechanism: The process through which an output produces an outcome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COM-B: Capability, Opportunity, Motivation → Behavior — a framework for analyzing behavioral mechanisms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Causal assumption: A condition that must hold for one level of the results chain to produce the next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Critical assumption: An assumption that is essential, uncertain, and testable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Direct outcome: Change in the group directly reached by the program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Distal outcome: Change in the group ultimately targeted (through indirect pathway)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Monitoring: Continuous tracking of reach, outputs, and early behavioral signals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Evaluation: Periodic assessment of whether the ToC held — and why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Contribution analysis: Assessment of the strength of the claim that the program contributed to observed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Calibri"/>
              </a:defRPr>
            </a:pPr>
            <a:r>
              <a:t>Reference: Creciendo Juntos — Full Annotated ToC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  <a:defRPr sz="2000" b="1" i="0">
                <a:solidFill>
                  <a:srgbClr val="333333"/>
                </a:solidFill>
                <a:latin typeface="Calibri"/>
              </a:defRPr>
            </a:pPr>
            <a:r>
              <a:t>LAYER 1 — RESULTS CHAIN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Inputs (facilitators, curriculum, USD 285M) → Activities (sessions, home visits, health monitoring) → Outputs (85K caregivers, 36 sessions/yr) → Outcomes (caregiver behavior change) → Impact (child development by age 3)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300"/>
              </a:spcAft>
              <a:defRPr sz="2000" b="1" i="0">
                <a:solidFill>
                  <a:srgbClr val="3A7CBD"/>
                </a:solidFill>
                <a:latin typeface="Calibri"/>
              </a:defRPr>
            </a:pPr>
            <a:r>
              <a:t>LAYER 2 — BEHAVIORAL MECHANISM (COM-B)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C: Developmental knowledge + responsive skills + self-efficacy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O: Peer group + materials + health access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M: Child response + peer norms + parental identity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→ B: Responsive interaction ↑, positive discipline, enriched environment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300"/>
              </a:spcAft>
              <a:defRPr sz="2000" b="1" i="0">
                <a:solidFill>
                  <a:srgbClr val="E86C00"/>
                </a:solidFill>
                <a:latin typeface="Calibri"/>
              </a:defRPr>
            </a:pPr>
            <a:r>
              <a:t>LAYER 3 — ASSUMPTIONS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Reach: facilitators recruited/retained. Capacity: quality delivery. Behavior: daily transfer. Outcome: sustained 18+ mo.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300"/>
              </a:spcAft>
              <a:defRPr sz="2000" b="1" i="0">
                <a:solidFill>
                  <a:srgbClr val="757575"/>
                </a:solidFill>
                <a:latin typeface="Calibri"/>
              </a:defRPr>
            </a:pPr>
            <a:r>
              <a:t>LAYER 4 — EXTERNAL INFLUENCES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Contextual: food security, political stability, health system. Rivals: CCTs, natural development, other programs.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Calibri"/>
              </a:defRPr>
            </a:pPr>
            <a:r>
              <a:t>Reference: Results Matrix Preview — One Completed 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  <a:defRPr sz="1600" b="0" i="1">
                <a:solidFill>
                  <a:srgbClr val="2C5F8A"/>
                </a:solidFill>
                <a:latin typeface="Calibri"/>
              </a:defRPr>
            </a:pPr>
            <a:r>
              <a:t>This row will be expanded into a full Results Matrix in Session 2.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300"/>
              </a:spcAft>
              <a:defRPr sz="1600" b="1" i="0">
                <a:solidFill>
                  <a:srgbClr val="333333"/>
                </a:solidFill>
                <a:latin typeface="Calibri"/>
              </a:defRPr>
            </a:pPr>
            <a:r>
              <a:t>Results chain level:  Caregiver behavior change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Indicator:  % of caregivers observed engaging in ≥ 3 responsive interaction activities per hour during structured home visit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Type:  Behavioral (mechanism) indicator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Baseline:  15% of caregivers at enrollment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Target:  65% at Month 9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Source:  Structured observation at home visits (Months 3, 6, 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Calibri"/>
              </a:defRPr>
            </a:pPr>
            <a:r>
              <a:t>Reference: COM-B Lens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  <a:defRPr sz="1600" b="1" i="0">
                <a:solidFill>
                  <a:srgbClr val="3A7CBD"/>
                </a:solidFill>
                <a:latin typeface="Calibri"/>
              </a:defRPr>
            </a:pPr>
            <a:r>
              <a:t>CAPABILITY (C) — What a person knows and can do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Physical capability: skills, strength, stamina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Psychological capability: knowledge, psychological skills, memory, decision-making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300"/>
              </a:spcAft>
              <a:defRPr sz="1600" b="1" i="0">
                <a:solidFill>
                  <a:srgbClr val="3A7CBD"/>
                </a:solidFill>
                <a:latin typeface="Calibri"/>
              </a:defRPr>
            </a:pPr>
            <a:r>
              <a:t>OPPORTUNITY (O) — What the environment enables or constrains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Physical opportunity: time, resources, locations, cues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Social opportunity: cultural norms, social influences, interpersonal relationships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300"/>
              </a:spcAft>
              <a:defRPr sz="1600" b="1" i="0">
                <a:solidFill>
                  <a:srgbClr val="3A7CBD"/>
                </a:solidFill>
                <a:latin typeface="Calibri"/>
              </a:defRPr>
            </a:pPr>
            <a:r>
              <a:t>MOTIVATION (M) — What drives action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Reflective motivation: plans, evaluations, identity, beliefs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Automatic motivation: emotions, desires, impulses, habits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300"/>
              </a:spcAft>
              <a:defRPr sz="1600" b="1" i="0">
                <a:solidFill>
                  <a:srgbClr val="E86C00"/>
                </a:solidFill>
                <a:latin typeface="Calibri"/>
              </a:defRPr>
            </a:pPr>
            <a:r>
              <a:t>→ BEHAVIOR — The observable action that produces the intended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Calibri"/>
              </a:defRPr>
            </a:pPr>
            <a:r>
              <a:t>Reference: Assumption Classification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  <a:defRPr sz="2000" b="1" i="0">
                <a:solidFill>
                  <a:srgbClr val="2C5F8A"/>
                </a:solidFill>
                <a:latin typeface="Calibri"/>
              </a:defRPr>
            </a:pPr>
            <a:r>
              <a:t>REACH assumptions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Can the program reach the intended population? Are target groups accessible and willing?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300"/>
              </a:spcAft>
              <a:defRPr sz="2000" b="1" i="0">
                <a:solidFill>
                  <a:srgbClr val="2C5F8A"/>
                </a:solidFill>
                <a:latin typeface="Calibri"/>
              </a:defRPr>
            </a:pPr>
            <a:r>
              <a:t>CAPACITY assumptions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Does the intervention build the required COM-B shift? Is delivery quality sufficient?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300"/>
              </a:spcAft>
              <a:defRPr sz="2000" b="1" i="0">
                <a:solidFill>
                  <a:srgbClr val="2C5F8A"/>
                </a:solidFill>
                <a:latin typeface="Calibri"/>
              </a:defRPr>
            </a:pPr>
            <a:r>
              <a:t>BEHAVIOR assumptions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Does changed COM-B actually produce sustained behavior change outside the program context?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300"/>
              </a:spcAft>
              <a:defRPr sz="2000" b="1" i="0">
                <a:solidFill>
                  <a:srgbClr val="2C5F8A"/>
                </a:solidFill>
                <a:latin typeface="Calibri"/>
              </a:defRPr>
            </a:pPr>
            <a:r>
              <a:t>OUTCOME assumptions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Does behavior change produce the expected developmental, social, or economic outcome?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300"/>
              </a:spcAft>
              <a:defRPr sz="1600" b="1" i="0">
                <a:solidFill>
                  <a:srgbClr val="E86C00"/>
                </a:solidFill>
                <a:latin typeface="Calibri"/>
              </a:defRPr>
            </a:pPr>
            <a:r>
              <a:t>For each: Is it ESSENTIAL? Is it UNCERTAIN? Is it TESTABLE?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Calibri"/>
              </a:defRPr>
            </a:pPr>
            <a:r>
              <a:t>Reference: Key Readings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Rogers, P. (2008). Using programme theory to evaluate complicated and complex aspects of interventions. Evaluation, 14(1), 29–48.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Koleros, A. &amp; Mayne, J. (2017). Using actor-based theories of change to conduct robust evaluation in complex settings. Evaluation, 25(1), 82–101.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Mayne, J. (2012). Contribution analysis: Coming of age? Evaluation, 18(3), 270–280.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Mayne, J. (2019). Revisiting contribution analysis. Canadian Journal of Program Evaluation, 34(2), 171–191.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Michie, S., van Stralen, M.M. &amp; West, R. (2011). The behaviour change wheel: A new method for characterising and designing behaviour change interventions. Implementation Science, 6(42).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ILAC Brief 16: Contribution Analysis. Mayne, J. (2008).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Calibri"/>
              </a:defRPr>
            </a:pPr>
            <a:r>
              <a:t>EVALAC I — Course References and Acknowledgments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  <a:defRPr sz="2200" b="1" i="0">
                <a:solidFill>
                  <a:srgbClr val="1B3A5C"/>
                </a:solidFill>
                <a:latin typeface="Calibri"/>
              </a:defRPr>
            </a:pPr>
            <a:r>
              <a:t>EVALAC I: Introduction to M&amp;E and Theory-Based Evaluation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300"/>
              </a:spcAft>
              <a:defRPr sz="1600" b="1" i="0">
                <a:solidFill>
                  <a:srgbClr val="333333"/>
                </a:solidFill>
                <a:latin typeface="Calibri"/>
              </a:defRPr>
            </a:pPr>
            <a:r>
              <a:t>Organized by: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CLEAR-LAB  ·  IDB  ·  OVE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300"/>
              </a:spcAft>
              <a:defRPr sz="1600" b="1" i="0">
                <a:solidFill>
                  <a:srgbClr val="333333"/>
                </a:solidFill>
                <a:latin typeface="Calibri"/>
              </a:defRPr>
            </a:pPr>
            <a:r>
              <a:t>Case study: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  Creciendo Juntos — Integrated Early Childhood Development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757575"/>
                </a:solidFill>
                <a:latin typeface="Calibri"/>
              </a:defRPr>
            </a:pPr>
            <a:r>
              <a:t>  (Fictional composite case based on real ECD programs in Latin America and the Caribbean)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2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300"/>
              </a:spcAft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Session 1 designed and facilitated by the EVALAC teaching team.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800" b="0" i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300"/>
              </a:spcAft>
              <a:defRPr sz="1600" b="0" i="1">
                <a:solidFill>
                  <a:srgbClr val="2C5F8A"/>
                </a:solidFill>
                <a:latin typeface="Calibri"/>
              </a:defRPr>
            </a:pPr>
            <a:r>
              <a:t>For questions and feedback: evalac@clearlab.org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