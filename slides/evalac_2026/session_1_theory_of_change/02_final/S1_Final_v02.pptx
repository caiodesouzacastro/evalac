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Emphasize: all 5 sessions use the same case study. We build the ToC today and carry it forward all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objectives aloud; do not explain at length. Participants will understand them as the session unfolds. Return to this slide at the end as a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Display results live if using Miro/Mentimeter. Briefly name the distribution. Do not turn Q3 into a discussion -- collect and set aside. Use Q3 responses later as real-world anchors.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vignette aloud (2 min). Pause on one question: 'Looking at this program -- if it works, how exactly does that happen? What has to change?' Hold the question; do not answer yet. Distribute 1-page vignette handout. Do NOT ask participants to read in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distinction: Outputs tell us what was done. They do NOT tell us whether anything changed. The program can deliver 36 sessions and still not change anything. This is why we need a Theory of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the chain on the board as you speak. The attribution question sets up the contribution analysis thread for Session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Cheat Sheet S1, Ex.1: The program REACHES caregivers to CHANGE caregivers, which then AFFECTS children. A ToC fails if it jumps from 'sessions delivered' to 'child development improves' without specifying the behavioral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M&amp;E use the same Theory of Change. That is why building a good ToC today is foundational to everything that follows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KEY (from Cheat Sheet S1):</a:t>
            </a:r>
          </a:p>
          <a:p>
            <a:r>
              <a:t>- Inputs: facilitators, curriculum, budget, health center staff, coordinators</a:t>
            </a:r>
          </a:p>
          <a:p>
            <a:r>
              <a:t>- Outputs: 85,000 caregivers reached, 36 sessions/group/year, 750 facilitators deployed</a:t>
            </a:r>
          </a:p>
          <a:p>
            <a:r>
              <a:t>- Outcomes (direct): Caregivers improve knowledge, skills, motivation -&gt; change parenting behaviors</a:t>
            </a:r>
          </a:p>
          <a:p>
            <a:r>
              <a:t>- Outcomes (distal): Children 0-3 show improved language, motor, social-emotional development</a:t>
            </a:r>
          </a:p>
          <a:p>
            <a:r>
              <a:t>- Impact: Reduced developmental delay; long-term human capital gains</a:t>
            </a:r>
          </a:p>
          <a:p>
            <a:r>
              <a:t>- Unintended: Community facilitators gain professional credentials; peer networks reduce maternal isolation</a:t>
            </a:r>
          </a:p>
          <a:p/>
          <a:p>
            <a:r>
              <a:t>REACHED GROUPS (Cheat Sheet):</a:t>
            </a:r>
          </a:p>
          <a:p>
            <a:r>
              <a:t>Primary: Low-income caregivers (mothers primarily, some fathers, grandmothers) in 180 municipalities</a:t>
            </a:r>
          </a:p>
          <a:p>
            <a:r>
              <a:t>Secondary: Community facilitators, health center staff, municipal coordinators, educators</a:t>
            </a:r>
          </a:p>
          <a:p>
            <a:r>
              <a:t>Tertiary: Extended family, peer networks (indirect exposure)</a:t>
            </a:r>
          </a:p>
          <a:p/>
          <a:p>
            <a:r>
              <a:t>TARGET GROUPS:</a:t>
            </a:r>
          </a:p>
          <a:p>
            <a:r>
              <a:t>Primary: Children aged 0-5 (developmental outcomes)</a:t>
            </a:r>
          </a:p>
          <a:p>
            <a:r>
              <a:t>Secondary: Caregivers (knowledge, skills, well-being)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Bridge: 'We know WHAT should change. But WHY should it change -- and HOW exactly? That is what the Theory of Change needs to explain.'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COM-B is an analytical lens, not a checklist. Its value is forcing the question: what exactly needs to shift in the person for new behavior to become possible? Cheat Sheet S1, Exercise 2 uses COM-B dimensions for caregiver behaviors.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Cheat Sheet S1, Exercise 2: Defines observable behaviors for caregivers using COM-B. Also covers facilitators and health center staff as secondary actors.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KEY -- Caregivers (from Cheat Sheet S1, Ex. 2):</a:t>
            </a:r>
          </a:p>
          <a:p>
            <a:r>
              <a:t>Capability: Knowledge of 6+ developmental milestones, responsive interaction skills, confidence</a:t>
            </a:r>
          </a:p>
          <a:p>
            <a:r>
              <a:t>Opportunity: Play materials, designated play space, contact with 3+ peers outside sessions, health services</a:t>
            </a:r>
          </a:p>
          <a:p>
            <a:r>
              <a:t>Motivation: Prioritizes daily interaction despite demands, uses positive discipline, shares learning</a:t>
            </a:r>
          </a:p>
          <a:p>
            <a:r>
              <a:t>Behavior: Daily interaction to 45 min, language-rich activities, replaces harsh discipline</a:t>
            </a:r>
          </a:p>
          <a:p>
            <a:r>
              <a:t>Outcome: Child receives stimulation -&gt; developmental gains by 24 months</a:t>
            </a:r>
          </a:p>
          <a:p/>
          <a:p>
            <a:r>
              <a:t>ANSWER KEY -- Facilitators:</a:t>
            </a:r>
          </a:p>
          <a:p>
            <a:r>
              <a:t>Capability: Models responsive interaction, adapts curriculum to local context</a:t>
            </a:r>
          </a:p>
          <a:p>
            <a:r>
              <a:t>Opportunity/Motivation: Attends supervision, implements feedback, identifies/refers families with special needs</a:t>
            </a:r>
          </a:p>
          <a:p/>
          <a:p>
            <a:r>
              <a:t>ANSWER KEY -- Health Center Staff:</a:t>
            </a:r>
          </a:p>
          <a:p>
            <a:r>
              <a:t>Integrates developmental guidance into growth monitoring, administers ASQ-3, provides nutrition counseling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Bridge: 'We have been assuming a lot. What must be true for this pathway to hold? That is what causal assumptions tell us.'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full annotated ToC from Cheat Sheet S1 (File 06). Ask: 'What surprises you? What would you add or question?' Take 2-3 responses. Keep brief -- Block 4 will go deep on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Cheat Sheet S1, Exercise 4: Uses format 'IF [this happens], THEN [that follows], ASSUMING [critical condition].' Assumptions classified by results chain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KEY (from Cheat Sheet S1, Ex. 4):</a:t>
            </a:r>
          </a:p>
          <a:p>
            <a:r>
              <a:t>Link 1 (Inputs -&gt; Outputs):</a:t>
            </a:r>
          </a:p>
          <a:p>
            <a:r>
              <a:t>  A1: Facilitators can be recruited, trained, and retained</a:t>
            </a:r>
          </a:p>
          <a:p>
            <a:r>
              <a:t>  A2: Municipalities provide space and logistical support</a:t>
            </a:r>
          </a:p>
          <a:p>
            <a:r>
              <a:t>  A3: Health centers have capacity to add services</a:t>
            </a:r>
          </a:p>
          <a:p/>
          <a:p>
            <a:r>
              <a:t>Link 2 (Outputs -&gt; Behavior Change) -- MOST CRITICAL:</a:t>
            </a:r>
          </a:p>
          <a:p>
            <a:r>
              <a:t>  A4: Caregivers attend regularly (&gt;=70%). Risk: poverty, transport, family opposition</a:t>
            </a:r>
          </a:p>
          <a:p>
            <a:r>
              <a:t>  A5: Knowledge/skills translate to daily practice. Risk: knowing != doing</a:t>
            </a:r>
          </a:p>
          <a:p>
            <a:r>
              <a:t>  A6: Changed behavior sustains after program ends. Risk: practices fade</a:t>
            </a:r>
          </a:p>
          <a:p/>
          <a:p>
            <a:r>
              <a:t>Link 3 (Behavior Change -&gt; Outcomes):</a:t>
            </a:r>
          </a:p>
          <a:p>
            <a:r>
              <a:t>  A7: Dosage and quality of changed interaction is sufficient</a:t>
            </a:r>
          </a:p>
          <a:p>
            <a:r>
              <a:t>  A8: No overwhelming adversities swamp parenting improvements</a:t>
            </a:r>
          </a:p>
          <a:p/>
          <a:p>
            <a:r>
              <a:t>Bridge: 'The assumptions you identified are exactly the questions a contribution analysis must test. Session 5 will ask: which held? How strong is our claim?'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Bridge: 'These factors go on the edge of the ToC diagram -- they are not inside the program's theory, but they affect whether it holds. In evaluation design, we call these threats to internal validity. We return to them in Sessions 3-5.'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teaching point: 'You did not just build a diagram. You built a set of evaluation questions. Evaluation design starts here -- from the assumptions.'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quotes come from the family listening sessions in the narrative. They illustrate WHY the ToC must specify behavioral mechanisms: each quote reveals a different barrier (knowledge, isolation, norms, gender, literacy). The ToC must account for ALL of these through COM-B.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Expected answers:</a:t>
            </a:r>
          </a:p>
          <a:p>
            <a:r>
              <a:t>- Facilitator turnover rate (reach assumption) -- monthly from HR records</a:t>
            </a:r>
          </a:p>
          <a:p>
            <a:r>
              <a:t>- Session attendance rate among caregivers (capacity assumption) -- per group per session</a:t>
            </a:r>
          </a:p>
          <a:p>
            <a:r>
              <a:t>- Observed caregiver interaction during home visit (behavior assumption) -- structured observation at Month 3 and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Thread to Sessions 3-5: Sessions 3 and 4 will ask what qualitative and quantitative evidence lets you test each mechanism. Session 5 brings all evidence into a contribution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slide -- not presented in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slide -- 4-layer annotated ToC from File 06 cheat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slide -- bridge to Session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card for exercises. Based on Michie et al. (2011) COM-B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card for Exercise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slide -- not presented in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EVALAC I</a:t>
            </a:r>
            <a:br/>
            <a:r>
              <a:t>Introduction to M&amp;E and Theory of Change</a:t>
            </a:r>
          </a:p>
          <a:p>
            <a:pPr algn="l">
              <a:spcBef>
                <a:spcPts val="1600"/>
              </a:spcBef>
              <a:spcAft>
                <a:spcPts val="400"/>
              </a:spcAft>
              <a:defRPr sz="2000" b="0" i="0">
                <a:solidFill>
                  <a:srgbClr val="FFFFFF"/>
                </a:solidFill>
                <a:latin typeface="Calibri"/>
              </a:defRPr>
            </a:pPr>
            <a:r>
              <a:t>CLEAR-LAB  |  IDB  |  OVE</a:t>
            </a:r>
            <a:br/>
            <a:r>
              <a:t>Session 1 of 5  |  4.5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How This Week Works: 5 Sessions, One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2000" b="1" i="0">
                <a:solidFill>
                  <a:srgbClr val="333333"/>
                </a:solidFill>
                <a:latin typeface="Calibri"/>
              </a:defRPr>
            </a:pPr>
            <a:r>
              <a:t>Each session builds on the previous one. All five use the same case study.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700" b="0" i="0">
                <a:solidFill>
                  <a:srgbClr val="333333"/>
                </a:solidFill>
                <a:latin typeface="Calibri"/>
              </a:defRPr>
            </a:pPr>
            <a:r>
              <a:t>Session 1: How is change intended to happen?  (Theory of Change)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700" b="0" i="0">
                <a:solidFill>
                  <a:srgbClr val="333333"/>
                </a:solidFill>
                <a:latin typeface="Calibri"/>
              </a:defRPr>
            </a:pPr>
            <a:r>
              <a:t>Session 2: How do we measure it?  (Indicators &amp; Results Matrix)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700" b="0" i="0">
                <a:solidFill>
                  <a:srgbClr val="333333"/>
                </a:solidFill>
                <a:latin typeface="Calibri"/>
              </a:defRPr>
            </a:pPr>
            <a:r>
              <a:t>Session 3: What qualitative evidence do we need?  (Qualitative Methods)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700" b="0" i="0">
                <a:solidFill>
                  <a:srgbClr val="333333"/>
                </a:solidFill>
                <a:latin typeface="Calibri"/>
              </a:defRPr>
            </a:pPr>
            <a:r>
              <a:t>Session 4: What quantitative evidence do we need?  (Quantitative Methods)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700" b="0" i="0">
                <a:solidFill>
                  <a:srgbClr val="333333"/>
                </a:solidFill>
                <a:latin typeface="Calibri"/>
              </a:defRPr>
            </a:pPr>
            <a:r>
              <a:t>Session 5: How strong is our contribution claim?  (Contribution Analysis)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2C5F8A"/>
                </a:solidFill>
                <a:latin typeface="Calibri"/>
              </a:defRPr>
            </a:pPr>
            <a:r>
              <a:t>We build the Theory of Change today and carry it forward all week.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2C5F8A"/>
                </a:solidFill>
                <a:latin typeface="Calibri"/>
              </a:defRPr>
            </a:pPr>
            <a:r>
              <a:t>Session 2 picks up exactly where Session 1 ends.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What We Will Learn Today: Session 1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900" b="1" i="0">
                <a:solidFill>
                  <a:srgbClr val="2C5F8A"/>
                </a:solidFill>
                <a:latin typeface="Calibri"/>
              </a:defRPr>
            </a:pPr>
            <a:r>
              <a:t>Central question: How is change intended to happen -- and how do we reason about it?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1. Frame complex, multi-actor interventions as systems of change with multiple interacting factors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2. Explain why theory-based evaluation is essential, and position the Theory of Change as the starting point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3. Describe how change is expected to happen: results, causal mechanisms, assumptions, external influences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4. Distinguish monitoring from evaluation, and explain the role of the ToC in both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5. Formulate evaluation questions that translate the ToC into evaluative inquiry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Diagnostic Survey: 3 Quick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 b="1" i="0">
                <a:solidFill>
                  <a:srgbClr val="757575"/>
                </a:solidFill>
                <a:latin typeface="Calibri"/>
              </a:defRPr>
            </a:pPr>
            <a:r>
              <a:t>Activate prior knowledge. Baseline the group.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Q1: Have you ever built or revised a Theory of Change?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757575"/>
                </a:solidFill>
                <a:latin typeface="Calibri"/>
              </a:defRPr>
            </a:pPr>
            <a:r>
              <a:t>    Yes  /  No  /  Tried, not sure it worked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Q2: What evaluation approach have you used most?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757575"/>
                </a:solidFill>
                <a:latin typeface="Calibri"/>
              </a:defRPr>
            </a:pPr>
            <a:r>
              <a:t>    RCT  /  Quasi-experimental  /  Process tracing  /  Contribution analysis  /  Other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Q3: What is your biggest M&amp;E challenge right now?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757575"/>
                </a:solidFill>
                <a:latin typeface="Calibri"/>
              </a:defRPr>
            </a:pPr>
            <a:r>
              <a:t>    1 sentence in chat or sticky note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Meet the Case: Creciendo Juntos (Growing Together)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515600" cy="3840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875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Calibri"/>
              </a:defRPr>
            </a:pPr>
            <a:r>
              <a:t>THE CASE: CRECIENDO JUNTOS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spcAft>
                <a:spcPts val="400"/>
              </a:spcAft>
              <a:defRPr sz="1700" b="0" i="0">
                <a:solidFill>
                  <a:srgbClr val="333333"/>
                </a:solidFill>
                <a:latin typeface="Calibri"/>
              </a:defRPr>
            </a:pPr>
            <a:r>
              <a:t>A seven-year, government-run early childhood development program serving 180 municipalities. Target group: children aged 0-3 from the poorest 40% of families. Reached group: ~85,000 caregivers (mothers, fathers, grandmothers).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700" b="0" i="0">
                <a:solidFill>
                  <a:srgbClr val="333333"/>
                </a:solidFill>
                <a:latin typeface="Calibri"/>
              </a:defRPr>
            </a:pPr>
            <a:r>
              <a:t>Four components: (1) Weekly parenting group sessions (36/year)  (2) Monthly home visits  (3) Growth monitoring + developmental screening at health centers  (4) Early learning centers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700" b="0" i="0">
                <a:solidFill>
                  <a:srgbClr val="333333"/>
                </a:solidFill>
                <a:latin typeface="Calibri"/>
              </a:defRPr>
            </a:pPr>
            <a:r>
              <a:t>Budget: USD 285M over 5 years (~USD 1,140/child/year). Delivered by 750 community facilitators.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800" b="1" i="0">
                <a:solidFill>
                  <a:srgbClr val="E86C00"/>
                </a:solidFill>
                <a:latin typeface="Calibri"/>
              </a:defRPr>
            </a:pPr>
            <a:r>
              <a:t>Central question: Does participation by caregivers improve child development outcomes by age 3?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212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757575"/>
                </a:solidFill>
                <a:latin typeface="Calibri"/>
              </a:defRPr>
            </a:pPr>
            <a:r>
              <a:t>Narrative Handout: S1_Narrative_Handout (pre-reading distributed). Full narrative (Parts 1 &amp; 2) assigned for Session 2.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 i="1">
                <a:solidFill>
                  <a:srgbClr val="757575"/>
                </a:solidFill>
                <a:latin typeface="Calibri"/>
              </a:defRPr>
            </a:pPr>
            <a:r>
              <a:t>Cheat Sheet Reference: 06_CaseStudy_CheatSheet_Session1 -- overview + program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BBDEFB"/>
                </a:solidFill>
                <a:latin typeface="Calibri"/>
              </a:rPr>
              <a:t>BLOCK 2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Interventions and Their Results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600" b="0" i="0">
                <a:solidFill>
                  <a:srgbClr val="BBDEFB"/>
                </a:solidFill>
                <a:latin typeface="Calibri"/>
              </a:defRPr>
            </a:pPr>
            <a:r>
              <a:t>~55 minutes  |  Slides 6-13  |  Exercise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4389120"/>
            <a:ext cx="3657600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What Is a Public Intervention?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5156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40079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INPUTS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ACTIVITIES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OUTPUTS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What we invest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What we 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What we deliver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750 facilitators</a:t>
                      </a:r>
                    </a:p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Curriculum</a:t>
                      </a:r>
                    </a:p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USD 285M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Parenting group sessions</a:t>
                      </a:r>
                    </a:p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Home visits</a:t>
                      </a:r>
                    </a:p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Health center visits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85,000 caregivers reached</a:t>
                      </a:r>
                    </a:p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36 sessions/group/year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What Are Results? Outcomes and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700" b="1" i="0">
                <a:solidFill>
                  <a:srgbClr val="333333"/>
                </a:solidFill>
                <a:latin typeface="Calibri"/>
              </a:defRPr>
            </a:pPr>
            <a:r>
              <a:t>OUTCOME: A change in knowledge, attitude, behavior, or condition of a person or system resulting from the intervention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700" b="1" i="0">
                <a:solidFill>
                  <a:srgbClr val="333333"/>
                </a:solidFill>
                <a:latin typeface="Calibri"/>
              </a:defRPr>
            </a:pPr>
            <a:r>
              <a:t>IMPACT: Long-term, higher-order change attributable (in part) to the intervention -- often at population level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900" b="1" i="0">
                <a:solidFill>
                  <a:srgbClr val="2C5F8A"/>
                </a:solidFill>
                <a:latin typeface="Calibri"/>
              </a:defRPr>
            </a:pPr>
            <a:r>
              <a:t>In Creciendo Juntos: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700" b="0" i="0">
                <a:solidFill>
                  <a:srgbClr val="333333"/>
                </a:solidFill>
                <a:latin typeface="Calibri"/>
              </a:defRPr>
            </a:pPr>
            <a:r>
              <a:t>  Outcome = caregiver changes parenting behavior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700" b="0" i="0">
                <a:solidFill>
                  <a:srgbClr val="333333"/>
                </a:solidFill>
                <a:latin typeface="Calibri"/>
              </a:defRPr>
            </a:pPr>
            <a:r>
              <a:t>  Impact = child achieves age-appropriate development by age 3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700" b="0" i="1">
                <a:solidFill>
                  <a:srgbClr val="E86C00"/>
                </a:solidFill>
                <a:latin typeface="Calibri"/>
              </a:defRPr>
            </a:pPr>
            <a:r>
              <a:t>The program delivers sessions (output). Sessions are supposed to change caregivers (outcome). Changed caregivers are supposed to develop children (impact). But HOW does each step happen?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The Results Chain: A Causal Map of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2000" b="1" i="0">
                <a:solidFill>
                  <a:srgbClr val="2C5F8A"/>
                </a:solidFill>
                <a:latin typeface="Calibri"/>
              </a:defRPr>
            </a:pPr>
            <a:r>
              <a:t>INPUTS  --&gt;  ACTIVITIES  --&gt;  OUTPUTS  --&gt;  OUTCOMES  --&gt;  IMPACT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INPUTS: 750 facilitators, curriculum, USD 285M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ACTIVITIES: Parenting sessions, home visits, health center visits, learning centers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OUTPUTS: 85,000 caregivers reached, 36 sessions/group/year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OUTCOMES: Caregiver behavior change (interaction quality, nutrition practices)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IMPACT: 65% of children achieve age-appropriate development by 24 months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E86C00"/>
                </a:solidFill>
                <a:latin typeface="Calibri"/>
              </a:defRPr>
            </a:pPr>
            <a:r>
              <a:t>Which of these is easiest to measure? Which is hardest to attribute to the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Direct and Distal Outcomes: Why the Distinction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700" b="1" i="0">
                <a:solidFill>
                  <a:srgbClr val="333333"/>
                </a:solidFill>
                <a:latin typeface="Calibri"/>
              </a:defRPr>
            </a:pPr>
            <a:r>
              <a:t>DIRECT OUTCOME: Change in the group directly reached by the program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757575"/>
                </a:solidFill>
                <a:latin typeface="Calibri"/>
              </a:defRPr>
            </a:pPr>
            <a:r>
              <a:t>  Caregivers gain knowledge, change behavior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700" b="1" i="0">
                <a:solidFill>
                  <a:srgbClr val="333333"/>
                </a:solidFill>
                <a:latin typeface="Calibri"/>
              </a:defRPr>
            </a:pPr>
            <a:r>
              <a:t>DISTAL OUTCOME: Change in the group ultimately targeted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757575"/>
                </a:solidFill>
                <a:latin typeface="Calibri"/>
              </a:defRPr>
            </a:pPr>
            <a:r>
              <a:t>  Children show improved development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000" b="1" i="0">
                <a:solidFill>
                  <a:srgbClr val="E86C00"/>
                </a:solidFill>
                <a:latin typeface="Calibri"/>
              </a:defRPr>
            </a:pPr>
            <a:r>
              <a:t>THE INDIRECT PATHWAY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2C5F8A"/>
                </a:solidFill>
                <a:latin typeface="Calibri"/>
              </a:defRPr>
            </a:pPr>
            <a:r>
              <a:t>Program  --&gt;  Caregiver (direct)  --&gt;  Child (distal)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700" b="0" i="0">
                <a:solidFill>
                  <a:srgbClr val="333333"/>
                </a:solidFill>
                <a:latin typeface="Calibri"/>
              </a:defRPr>
            </a:pPr>
            <a:r>
              <a:t>The program does NOT directly develop children's brains.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700" b="1" i="0">
                <a:solidFill>
                  <a:srgbClr val="333333"/>
                </a:solidFill>
                <a:latin typeface="Calibri"/>
              </a:defRPr>
            </a:pPr>
            <a:r>
              <a:t>It develops caregivers' capacity to develop children's brains.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E86C00"/>
                </a:solidFill>
                <a:latin typeface="Calibri"/>
              </a:defRPr>
            </a:pPr>
            <a:r>
              <a:t>Caregiver behavioral change is the critical mechanism in this Theory of 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Monitoring and Evaluation: Different Questions, Shared Theory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MONITORING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EVALUATION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Are we delivering as planned?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Are outcomes occurring as expected?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Tracks outputs and early outcomes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Tests whether the ToC holds -- and why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Signal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Early warning: is the theory unfolding?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Strength of the contribution claim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Timing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Continuous -- during implementation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Periodic -- at key milestones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565C0"/>
                </a:solidFill>
                <a:latin typeface="Calibri"/>
              </a:rPr>
              <a:t>EXERCISE  </a:t>
            </a:r>
            <a:r>
              <a:rPr sz="1400" b="0" i="0">
                <a:solidFill>
                  <a:srgbClr val="757575"/>
                </a:solidFill>
                <a:latin typeface="Calibri"/>
              </a:rPr>
              <a:t>15 min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600" b="1" i="0">
                <a:solidFill>
                  <a:srgbClr val="1B3A5C"/>
                </a:solidFill>
                <a:latin typeface="Calibri"/>
              </a:defRPr>
            </a:pPr>
            <a:r>
              <a:t>Exercise 1: Map the Results Chain for Creciendo Juntos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400" b="1" i="0">
                <a:solidFill>
                  <a:srgbClr val="757575"/>
                </a:solidFill>
                <a:latin typeface="Calibri"/>
              </a:defRPr>
            </a:pPr>
            <a:r>
              <a:t>15 min  |  Small groups (3-4 participants)  |  10 min groups + 5 min plenary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Using the 1-page vignette distributed at Slide 5: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1. Complete the results chain template for Creciendo Juntos.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 For each level, identify: (a) What is happening? (b) Who is involved? (c) Direct or distal change?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2. Identify ONE change that was probably NOT planned by the program.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3. Be ready to share: What is the program trying to change, and in whom?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400" b="0" i="0">
                <a:solidFill>
                  <a:srgbClr val="757575"/>
                </a:solidFill>
                <a:latin typeface="Calibri"/>
              </a:defRPr>
            </a:pPr>
            <a:r>
              <a:t>Materials: 1-page case vignette + Results chain blank template (workbook)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1" i="0">
                <a:solidFill>
                  <a:srgbClr val="1565C0"/>
                </a:solidFill>
                <a:latin typeface="Calibri"/>
              </a:defRPr>
            </a:pPr>
            <a:r>
              <a:t>Cheat Sheet Ref: S1 Cheat Sheet, Exercise 1 -- Reached groups vs target groups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E86C00"/>
                </a:solidFill>
                <a:latin typeface="Calibri"/>
              </a:rPr>
              <a:t>DEBRIEF  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600" b="1" i="0">
                <a:solidFill>
                  <a:srgbClr val="1B3A5C"/>
                </a:solidFill>
                <a:latin typeface="Calibri"/>
              </a:defRPr>
            </a:pPr>
            <a:r>
              <a:t>Debrief: The Indirect Pathway Is the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Key insight: most groups correctly identify outputs but struggle with the mechanism between outputs and outcomes.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1B3A5C"/>
                </a:solidFill>
                <a:latin typeface="Calibri"/>
              </a:defRPr>
            </a:pPr>
            <a:r>
              <a:t>The program REACHES caregivers to CHANGE caregivers, which then AFFECTS children.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Critical distinction: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- The program delivers services to caregivers (direct)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- It expects children to benefit (distal)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- What is MISSING from the results chain: it tells us WHAT should happen, not WHY or HOW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E86C00"/>
                </a:solidFill>
                <a:latin typeface="Calibri"/>
              </a:defRPr>
            </a:pPr>
            <a:r>
              <a:t>What you just built is a results chain. It is necessary -- but not sufficient.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E86C00"/>
                </a:solidFill>
                <a:latin typeface="Calibri"/>
              </a:defRPr>
            </a:pPr>
            <a:r>
              <a:t>A Theory of Change adds three things: causal mechanisms, causal assumptions, and external influences.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Unintended Outcomes and Evaluation Breadth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700" b="0" i="0">
                <a:solidFill>
                  <a:srgbClr val="333333"/>
                </a:solidFill>
                <a:latin typeface="Calibri"/>
              </a:defRPr>
            </a:pPr>
            <a:r>
              <a:t>Programs regularly generate effects beyond the intended results chain.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A good Theory of Change flags plausible unintended pathways -- not to manage all of them, but to avoid being surprised.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2C5F8A"/>
                </a:solidFill>
                <a:latin typeface="Calibri"/>
              </a:defRPr>
            </a:pPr>
            <a:r>
              <a:t>Examples from Creciendo Juntos: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- Facilitators develop professional credentials and career pathways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- Peer networks among caregivers reduce maternal isolation and depression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- Grandmothers exposed to new parenting norms change intergenerational practices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333333"/>
                </a:solidFill>
                <a:latin typeface="Calibri"/>
              </a:defRPr>
            </a:pPr>
            <a:r>
              <a:t>Unintended outcomes can be positive, negative, or mixed. Evaluation should scan for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BBDEFB"/>
                </a:solidFill>
                <a:latin typeface="Calibri"/>
              </a:rPr>
              <a:t>BLOCK 3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Theory of Change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600" b="0" i="0">
                <a:solidFill>
                  <a:srgbClr val="BBDEFB"/>
                </a:solidFill>
                <a:latin typeface="Calibri"/>
              </a:defRPr>
            </a:pPr>
            <a:r>
              <a:t>~70 minutes  |  Slides 15-22  |  Exercise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4389120"/>
            <a:ext cx="3657600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What Is a Theory of Change?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2200" b="1" i="0">
                <a:solidFill>
                  <a:srgbClr val="2C5F8A"/>
                </a:solidFill>
                <a:latin typeface="Calibri"/>
              </a:defRPr>
            </a:pPr>
            <a:r>
              <a:t>DEFINITION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700" b="0" i="0">
                <a:solidFill>
                  <a:srgbClr val="333333"/>
                </a:solidFill>
                <a:latin typeface="Calibri"/>
              </a:defRPr>
            </a:pPr>
            <a:r>
              <a:t>A Theory of Change is a causal argument that explains how and why an intervention is expected to produce change.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It specifies: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(1) The results chain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(2) The causal mechanisms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(3) The causal assumptions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(4) External influences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E86C00"/>
                </a:solidFill>
                <a:latin typeface="Calibri"/>
              </a:defRPr>
            </a:pPr>
            <a:r>
              <a:t>What makes it different from a logic model: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- A logic model describes; a ToC argues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- A logic model says 'if we do X, then Y'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1" i="0">
                <a:solidFill>
                  <a:srgbClr val="333333"/>
                </a:solidFill>
                <a:latin typeface="Calibri"/>
              </a:defRPr>
            </a:pPr>
            <a:r>
              <a:t>  - A ToC says 'if we do X, then Y, BECAUSE OF Z, assuming A and B hold'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- A ToC makes mechanism and assumptions explicit -- and therefore testable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300" b="0" i="1">
                <a:solidFill>
                  <a:srgbClr val="757575"/>
                </a:solidFill>
                <a:latin typeface="Calibri"/>
              </a:defRPr>
            </a:pPr>
            <a:r>
              <a:t>Rogers (2008); Koleros &amp; Mayne (2017)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What Is Missing from the Results Chain?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2C5F8A"/>
                </a:solidFill>
                <a:latin typeface="Calibri"/>
              </a:defRPr>
            </a:pPr>
            <a:r>
              <a:t>Results chain says: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700" b="0" i="0">
                <a:solidFill>
                  <a:srgbClr val="333333"/>
                </a:solidFill>
                <a:latin typeface="Calibri"/>
              </a:defRPr>
            </a:pPr>
            <a:r>
              <a:t>Sessions delivered  --&gt;  Caregiver behavior change  --&gt;  Child development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000" b="1" i="0">
                <a:solidFill>
                  <a:srgbClr val="E86C00"/>
                </a:solidFill>
                <a:latin typeface="Calibri"/>
              </a:defRPr>
            </a:pPr>
            <a:r>
              <a:t>But does NOT explain: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WHY would a session change caregiver behavior?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2C5F8A"/>
                </a:solidFill>
                <a:latin typeface="Calibri"/>
              </a:defRPr>
            </a:pPr>
            <a:r>
              <a:t>  --&gt; Causal mechanism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WHAT must be true for that change to happen?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2C5F8A"/>
                </a:solidFill>
                <a:latin typeface="Calibri"/>
              </a:defRPr>
            </a:pPr>
            <a:r>
              <a:t>  --&gt; Causal assumptions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WHAT else could produce the observed outcome?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2C5F8A"/>
                </a:solidFill>
                <a:latin typeface="Calibri"/>
              </a:defRPr>
            </a:pPr>
            <a:r>
              <a:t>  --&gt; External influences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700" b="0" i="1">
                <a:solidFill>
                  <a:srgbClr val="E86C00"/>
                </a:solidFill>
                <a:latin typeface="Calibri"/>
              </a:defRPr>
            </a:pPr>
            <a:r>
              <a:t>The jump from 'sessions delivered' to 'child development improved' is not self-evident. It is a theory. And like any theory, it can be wrong.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Causal Mechanisms: How Does Change Actually Happen?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700" b="1" i="0">
                <a:solidFill>
                  <a:srgbClr val="333333"/>
                </a:solidFill>
                <a:latin typeface="Calibri"/>
              </a:defRPr>
            </a:pPr>
            <a:r>
              <a:t>A causal mechanism is the process through which an output produces an outcome.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2C5F8A"/>
                </a:solidFill>
                <a:latin typeface="Calibri"/>
              </a:defRPr>
            </a:pPr>
            <a:r>
              <a:t>Key distinctions: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- Mechanisms are NOT activities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- Activities produce outputs; mechanisms explain how outputs produce outcomes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- In theory-based evaluation, we test mechanisms directly -- not just outcomes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900" b="1" i="0">
                <a:solidFill>
                  <a:srgbClr val="E86C00"/>
                </a:solidFill>
                <a:latin typeface="Calibri"/>
              </a:defRPr>
            </a:pPr>
            <a:r>
              <a:t>EXAMPLE: CRECIENDO JUNTOS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Activity: 36 parenting group sessions delivered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Mechanism: Sessions increase caregiver CAPABILITY (knowledge), create OPPORTUNITY (peer networks, materials), and build MOTIVATION (new identity)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Outcome: Caregivers change daily interaction behaviors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Distal outcome: Children experience improved stimulation --&gt; developmental gains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E86C00"/>
                </a:solidFill>
                <a:latin typeface="Calibri"/>
              </a:defRPr>
            </a:pPr>
            <a:r>
              <a:t>If the mechanism does not fire, sessions may be delivered but nothing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COM-B: Capability, Opportunity, Motivation --&gt; Behavior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 Creciendo Juntos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CAPABILITY (C)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What a person knows and can 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Caregiver learns milestones, learns responsive play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OPPORTUNITY (O)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What the environment enables or constrains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Peer group forms, materials distributed, health visits accessible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MOTIVATION (M)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What drives 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Child responds positively; new identity: 'I am my child's first teacher'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BEHAVIOR (B)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Observable action that produces the outcome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Daily interaction increases 15 -&gt; 45 min; harsh discipline replaced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COM-B in Creciendo Juntos: Tracing the Pathway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2C5F8A"/>
                </a:solidFill>
                <a:latin typeface="Calibri"/>
              </a:defRPr>
            </a:pPr>
            <a:r>
              <a:t>CJ sessions --&gt; [C] + [O] + [M] --&gt; Behavior change --&gt; Child development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2E7D32"/>
                </a:solidFill>
                <a:latin typeface="Calibri"/>
              </a:defRPr>
            </a:pPr>
            <a:r>
              <a:t>CAPABILITY: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Knowledge of child development stages | Skill in responsive interaction | Self-efficacy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2E7D32"/>
                </a:solidFill>
                <a:latin typeface="Calibri"/>
              </a:defRPr>
            </a:pPr>
            <a:r>
              <a:t>OPPORTUNITY: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Peer support group | Learning materials | Health center access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2E7D32"/>
                </a:solidFill>
                <a:latin typeface="Calibri"/>
              </a:defRPr>
            </a:pPr>
            <a:r>
              <a:t>MOTIVATION: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Emotional reward from child's positive response | Peer norms | New parental identity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E86C00"/>
                </a:solidFill>
                <a:latin typeface="Calibri"/>
              </a:defRPr>
            </a:pPr>
            <a:r>
              <a:t>BEHAVIOR: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Responsive interaction UP | Positive discipline | Enriched home environment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2C5F8A"/>
                </a:solidFill>
                <a:latin typeface="Calibri"/>
              </a:defRPr>
            </a:pPr>
            <a:r>
              <a:t>We traced the mechanism for one actor -- the caregiver. In the exercise, you will go deeper.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565C0"/>
                </a:solidFill>
                <a:latin typeface="Calibri"/>
              </a:rPr>
              <a:t>EXERCISE  </a:t>
            </a:r>
            <a:r>
              <a:rPr sz="1400" b="0" i="0">
                <a:solidFill>
                  <a:srgbClr val="757575"/>
                </a:solidFill>
                <a:latin typeface="Calibri"/>
              </a:rPr>
              <a:t>20 min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600" b="1" i="0">
                <a:solidFill>
                  <a:srgbClr val="1B3A5C"/>
                </a:solidFill>
                <a:latin typeface="Calibri"/>
              </a:defRPr>
            </a:pPr>
            <a:r>
              <a:t>Exercise 2: Build the Causal Pathway for Creciendo Juntos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400" b="1" i="0">
                <a:solidFill>
                  <a:srgbClr val="757575"/>
                </a:solidFill>
                <a:latin typeface="Calibri"/>
              </a:defRPr>
            </a:pPr>
            <a:r>
              <a:t>20 min  |  Pairs or small groups  |  15 min groups + 5 min plenary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Using the case and the COM-B lens, choose ONE reached group: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(a) Caregivers    OR    (b) Community health workers / facilitators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For your chosen group, trace the complete causal pathway: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(a) CAPABILITY: What must this person know or be able to do?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(b) OPPORTUNITY: What environmental conditions must be present?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(c) MOTIVATION: What must shift in their sense of purpose or habit?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(d) BEHAVIOR: What specific observable action should change?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(e) OUTCOME: What change does this behavior produce in the target group?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Add your pathway to the results chain template from Exercise 1.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1" i="0">
                <a:solidFill>
                  <a:srgbClr val="1565C0"/>
                </a:solidFill>
                <a:latin typeface="Calibri"/>
              </a:defRPr>
            </a:pPr>
            <a:r>
              <a:t>Cheat Sheet Ref: S1 Cheat Sheet, Exercise 2 -- Observable behaviors by actor (COM-B)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E86C00"/>
                </a:solidFill>
                <a:latin typeface="Calibri"/>
              </a:rPr>
              <a:t>DEBRIEF  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600" b="1" i="0">
                <a:solidFill>
                  <a:srgbClr val="1B3A5C"/>
                </a:solidFill>
                <a:latin typeface="Calibri"/>
              </a:defRPr>
            </a:pPr>
            <a:r>
              <a:t>Debrief: Connecting Outputs --&gt; Behaviors --&gt;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The behavioral mechanism is what sessions are supposed to trigger.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Without it, outputs do not produce outcomes.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1B3A5C"/>
                </a:solidFill>
                <a:latin typeface="Calibri"/>
              </a:defRPr>
            </a:pPr>
            <a:r>
              <a:t>Key points: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- Different groups trace different pathways -- both matter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- The pathway you traced is a hypothesis. Each link depends on something being true.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- Teaching note: Capability builds first (months 0-3), behavior emerges (months 3-6),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  consolidates (months 6-9), child outcomes appear (months 9-12+).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E86C00"/>
                </a:solidFill>
                <a:latin typeface="Calibri"/>
              </a:defRPr>
            </a:pPr>
            <a:r>
              <a:t>You have built the core of the Theory of Change.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E86C00"/>
                </a:solidFill>
                <a:latin typeface="Calibri"/>
              </a:defRPr>
            </a:pPr>
            <a:r>
              <a:t>The next question: what are we assuming? What must be true for each link to hold?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The Creciendo Juntos ToC: The Full Causal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757575"/>
                </a:solidFill>
                <a:latin typeface="Calibri"/>
              </a:defRPr>
            </a:pPr>
            <a:r>
              <a:t>This is the complete Theory of Change incorporating all elements from Exercises 1 &amp; 2.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700" b="1" i="0">
                <a:solidFill>
                  <a:srgbClr val="333333"/>
                </a:solidFill>
                <a:latin typeface="Calibri"/>
              </a:defRPr>
            </a:pPr>
            <a:r>
              <a:t>Layer 1 (BLACK): Results chain -- from Exercise 1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Inputs --&gt; Activities --&gt; Outputs --&gt; Outcomes --&gt; Impact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700" b="1" i="0">
                <a:solidFill>
                  <a:srgbClr val="2C5F8A"/>
                </a:solidFill>
                <a:latin typeface="Calibri"/>
              </a:defRPr>
            </a:pPr>
            <a:r>
              <a:t>Layer 2 (BLUE): COM-B behavioral mechanism -- from Exercise 2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2C5F8A"/>
                </a:solidFill>
                <a:latin typeface="Calibri"/>
              </a:defRPr>
            </a:pPr>
            <a:r>
              <a:t>  Capability + Opportunity + Motivation --&gt; Behavior change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700" b="1" i="0">
                <a:solidFill>
                  <a:srgbClr val="E86C00"/>
                </a:solidFill>
                <a:latin typeface="Calibri"/>
              </a:defRPr>
            </a:pPr>
            <a:r>
              <a:t>Layer 3 (ORANGE): Assumption markers -- to be filled in Block 4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E86C00"/>
                </a:solidFill>
                <a:latin typeface="Calibri"/>
              </a:defRPr>
            </a:pPr>
            <a:r>
              <a:t>  Conditions that must hold for each link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700" b="1" i="0">
                <a:solidFill>
                  <a:srgbClr val="757575"/>
                </a:solidFill>
                <a:latin typeface="Calibri"/>
              </a:defRPr>
            </a:pPr>
            <a:r>
              <a:t>Layer 4 (GREY): External influence arrows -- to be filled in Block 4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757575"/>
                </a:solidFill>
                <a:latin typeface="Calibri"/>
              </a:defRPr>
            </a:pPr>
            <a:r>
              <a:t>  Factors outside the program's control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E86C00"/>
                </a:solidFill>
                <a:latin typeface="Calibri"/>
              </a:defRPr>
            </a:pPr>
            <a:r>
              <a:t>What surprises you? What would you add or question?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BBDEFB"/>
                </a:solidFill>
                <a:latin typeface="Calibri"/>
              </a:rPr>
              <a:t>BLOCK 4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Assumptions and External Influences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600" b="0" i="0">
                <a:solidFill>
                  <a:srgbClr val="BBDEFB"/>
                </a:solidFill>
                <a:latin typeface="Calibri"/>
              </a:defRPr>
            </a:pPr>
            <a:r>
              <a:t>~65 minutes  |  Slides 24-31  |  Exercises 3 &amp; 4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4389120"/>
            <a:ext cx="3657600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What Are Causal Assumptions?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2000" b="1" i="0">
                <a:solidFill>
                  <a:srgbClr val="2C5F8A"/>
                </a:solidFill>
                <a:latin typeface="Calibri"/>
              </a:defRPr>
            </a:pPr>
            <a:r>
              <a:t>DEFINITION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A causal assumption is a condition that must hold for one level of the results chain to produce the next.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If an assumption is violated, the expected causal link breaks -- even if the program is implemented correctly.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E86C00"/>
                </a:solidFill>
                <a:latin typeface="Calibri"/>
              </a:defRPr>
            </a:pPr>
            <a:r>
              <a:t>Example from Creciendo Juntos: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Link: Parenting sessions delivered --&gt; Caregivers change behavior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Assumption: Attendance is sufficient (caregivers attend &gt;= 70% of sessions)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C62828"/>
                </a:solidFill>
                <a:latin typeface="Calibri"/>
              </a:defRPr>
            </a:pPr>
            <a:r>
              <a:t>If violated: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Sessions delivered but caregivers attend sporadically --&gt; capability does not build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--&gt; behavior does not change --&gt; outcomes not reached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1" i="0">
                <a:solidFill>
                  <a:srgbClr val="333333"/>
                </a:solidFill>
                <a:latin typeface="Calibri"/>
              </a:defRPr>
            </a:pPr>
            <a:r>
              <a:t>  Even though outputs were 100% delivered.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E86C00"/>
                </a:solidFill>
                <a:latin typeface="Calibri"/>
              </a:defRPr>
            </a:pPr>
            <a:r>
              <a:t>This is why monitoring attendance is not optional. If this assumption breaks, everything downstream breaks.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Types of Assumptions: Classifying by Results Chain Level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Question It Answers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Creciendo Juntos Example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Can the program reach the intended population?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Facilitators can be recruited and retained in target communities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CAPACITY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Does the intervention build the required COM-B shift?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Sessions delivered with sufficient quality to build caregiver capability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BEHAVIOR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Does changed COM-B produce behavior change?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Knowledge and motivation translate to daily behavior (not just during sessions)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OUTCOME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Does behavior change produce the expected outcome?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Changed caregiver behavior sustained 18+ months produces developmental gains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Critical Assumptions: Which Links Are Most Fragile?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900" b="1" i="0">
                <a:solidFill>
                  <a:srgbClr val="333333"/>
                </a:solidFill>
                <a:latin typeface="Calibri"/>
              </a:defRPr>
            </a:pPr>
            <a:r>
              <a:t>A critical assumption is one that: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1. Is ESSENTIAL -- if it breaks, outcomes cannot be reached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2. Is UNCERTAIN -- we have limited evidence it holds in this context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3. Is TESTABLE -- we can design monitoring or evaluation to check it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900" b="1" i="0">
                <a:solidFill>
                  <a:srgbClr val="E86C00"/>
                </a:solidFill>
                <a:latin typeface="Calibri"/>
              </a:defRPr>
            </a:pPr>
            <a:r>
              <a:t>TWO CANDIDATE CRITICAL ASSUMPTIONS: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2C5F8A"/>
                </a:solidFill>
                <a:latin typeface="Calibri"/>
              </a:defRPr>
            </a:pPr>
            <a:r>
              <a:t>B1 (BEHAVIOR):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Caregivers who increase knowledge in sessions also change their daily parenting behaviors at home, not just during observed sessions.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 b="0" i="1">
                <a:solidFill>
                  <a:srgbClr val="757575"/>
                </a:solidFill>
                <a:latin typeface="Calibri"/>
              </a:defRPr>
            </a:pPr>
            <a:r>
              <a:t>CRITICAL because behavioral generalization is uncertain and rarely measured.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2C5F8A"/>
                </a:solidFill>
                <a:latin typeface="Calibri"/>
              </a:defRPr>
            </a:pPr>
            <a:r>
              <a:t>O1 (OUTCOME):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Changed parenting behavior, sustained for 18 months, is sufficient to produce measurable developmental gains in children by age 3.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 b="0" i="1">
                <a:solidFill>
                  <a:srgbClr val="757575"/>
                </a:solidFill>
                <a:latin typeface="Calibri"/>
              </a:defRPr>
            </a:pPr>
            <a:r>
              <a:t>CRITICAL because the dose-response relationship is unclear for multi-risk households.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565C0"/>
                </a:solidFill>
                <a:latin typeface="Calibri"/>
              </a:rPr>
              <a:t>EXERCISE  </a:t>
            </a:r>
            <a:r>
              <a:rPr sz="1400" b="0" i="0">
                <a:solidFill>
                  <a:srgbClr val="757575"/>
                </a:solidFill>
                <a:latin typeface="Calibri"/>
              </a:rPr>
              <a:t>20 min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600" b="1" i="0">
                <a:solidFill>
                  <a:srgbClr val="1B3A5C"/>
                </a:solidFill>
                <a:latin typeface="Calibri"/>
              </a:defRPr>
            </a:pPr>
            <a:r>
              <a:t>Exercise 3: Identify and Classify Assumptions in the ToC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400" b="1" i="0">
                <a:solidFill>
                  <a:srgbClr val="757575"/>
                </a:solidFill>
                <a:latin typeface="Calibri"/>
              </a:defRPr>
            </a:pPr>
            <a:r>
              <a:t>20 min  |  Small groups (3-4)  |  15 min groups + 5 min plenary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Using the Creciendo Juntos ToC from Slide 23: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1. Identify at least ONE assumption per level: reach, capacity, behavior, outcome.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2. Write each assumption as a complete sentence: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1">
                <a:solidFill>
                  <a:srgbClr val="333333"/>
                </a:solidFill>
                <a:latin typeface="Calibri"/>
              </a:defRPr>
            </a:pPr>
            <a:r>
              <a:t>   'IF [condition], THEN the link holds.'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3. Mark which TWO assumptions you consider most critical.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4. Be ready to explain: Why these two? What evidence would test them?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Add assumptions to the ToC template -- they annotate each causal arrow.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1" i="0">
                <a:solidFill>
                  <a:srgbClr val="1565C0"/>
                </a:solidFill>
                <a:latin typeface="Calibri"/>
              </a:defRPr>
            </a:pPr>
            <a:r>
              <a:t>Cheat Sheet Ref: S1 Cheat Sheet, Exercise 4 -- Assumptions by causal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E86C00"/>
                </a:solidFill>
                <a:latin typeface="Calibri"/>
              </a:rPr>
              <a:t>DEBRIEF  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600" b="1" i="0">
                <a:solidFill>
                  <a:srgbClr val="1B3A5C"/>
                </a:solidFill>
                <a:latin typeface="Calibri"/>
              </a:defRPr>
            </a:pPr>
            <a:r>
              <a:t>Debrief: Which Assumptions Are Most Fragile?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Most groups identify Behavior assumptions as most critical -- this is where most ECD programs fail.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An assumption is only useful if it is testable.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1B3A5C"/>
                </a:solidFill>
                <a:latin typeface="Calibri"/>
              </a:defRPr>
            </a:pPr>
            <a:r>
              <a:t>Critical assumptions become: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- Monitoring indicators (track whether conditions hold)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- Evaluation questions (test whether the ToC mechanism functioned)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E86C00"/>
                </a:solidFill>
                <a:latin typeface="Calibri"/>
              </a:defRPr>
            </a:pPr>
            <a:r>
              <a:t>Example: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If the critical assumption is 'caregivers change daily behavior,' the evaluation question is: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1">
                <a:solidFill>
                  <a:srgbClr val="333333"/>
                </a:solidFill>
                <a:latin typeface="Calibri"/>
              </a:defRPr>
            </a:pPr>
            <a:r>
              <a:t>Did caregivers actually change their daily parenting behavior -- and if so, how much, for whom, and under what conditions?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2C5F8A"/>
                </a:solidFill>
                <a:latin typeface="Calibri"/>
              </a:defRPr>
            </a:pPr>
            <a:r>
              <a:t>That is what Session 5 will help you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External Influences: What Is Outside the Program's Control?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2000" b="1" i="0">
                <a:solidFill>
                  <a:srgbClr val="2C5F8A"/>
                </a:solidFill>
                <a:latin typeface="Calibri"/>
              </a:defRPr>
            </a:pPr>
            <a:r>
              <a:t>Two types of external influence: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2E7D32"/>
                </a:solidFill>
                <a:latin typeface="Calibri"/>
              </a:defRPr>
            </a:pPr>
            <a:r>
              <a:t>CONTEXTUAL FACTORS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Structural conditions that shape whether the mechanism can function: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Economy, political stability, health system quality, food security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E86C00"/>
                </a:solidFill>
                <a:latin typeface="Calibri"/>
              </a:defRPr>
            </a:pPr>
            <a:r>
              <a:t>RIVAL EXPLANATIONS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Alternative causes of the observed outcome without the program: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Natural child development, another program, a social trend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Why both matter for evaluation: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- Contextual factors can violate assumptions (e.g., severe food insecurity means even improved parenting doesn't translate to gains)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- Rival explanations: if children improve even in control communities, the program's contribution is less clear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- Evaluators must rule out rival explanations or account for them in the contribution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565C0"/>
                </a:solidFill>
                <a:latin typeface="Calibri"/>
              </a:rPr>
              <a:t>EXERCISE  </a:t>
            </a:r>
            <a:r>
              <a:rPr sz="1400" b="0" i="0">
                <a:solidFill>
                  <a:srgbClr val="757575"/>
                </a:solidFill>
                <a:latin typeface="Calibri"/>
              </a:rPr>
              <a:t>10 min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600" b="1" i="0">
                <a:solidFill>
                  <a:srgbClr val="1B3A5C"/>
                </a:solidFill>
                <a:latin typeface="Calibri"/>
              </a:defRPr>
            </a:pPr>
            <a:r>
              <a:t>Exercise 4: External Influences Scan (Facilitated Discussion)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400" b="1" i="0">
                <a:solidFill>
                  <a:srgbClr val="757575"/>
                </a:solidFill>
                <a:latin typeface="Calibri"/>
              </a:defRPr>
            </a:pPr>
            <a:r>
              <a:t>10 min  |  Full-group facilitated discussion  |  No separate template needed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Q1: What are the 2-3 most important external factors that could affect whether Creciendo Juntos achieves its outcomes?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 i="0">
                <a:solidFill>
                  <a:srgbClr val="757575"/>
                </a:solidFill>
                <a:latin typeface="Calibri"/>
              </a:defRPr>
            </a:pPr>
            <a:r>
              <a:t>  (Facilitator records on board)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Q2: Which of these could be a rival explanation for observed improvements?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Which could make outcomes improve even if the program had no effect?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Q3: Which critical assumption from Exercise 3 is most vulnerable to these external factors?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500" b="0" i="1">
                <a:solidFill>
                  <a:srgbClr val="757575"/>
                </a:solidFill>
                <a:latin typeface="Calibri"/>
              </a:defRPr>
            </a:pPr>
            <a:r>
              <a:t>Expected factors: economic recession, political instability, other social programs (CCTs),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 b="0" i="1">
                <a:solidFill>
                  <a:srgbClr val="757575"/>
                </a:solidFill>
                <a:latin typeface="Calibri"/>
              </a:defRPr>
            </a:pPr>
            <a:r>
              <a:t>natural disasters / pandemics, media campaigns on parenting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1" i="0">
                <a:solidFill>
                  <a:srgbClr val="1565C0"/>
                </a:solidFill>
                <a:latin typeface="Calibri"/>
              </a:defRPr>
            </a:pPr>
            <a:r>
              <a:t>Cheat Sheet Ref: S1 Cheat Sheet, Exercise 5 -- ToC to Contribution Analysis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The Complete Theory of Change: Four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900" b="1" i="0">
                <a:solidFill>
                  <a:srgbClr val="2C5F8A"/>
                </a:solidFill>
                <a:latin typeface="Calibri"/>
              </a:defRPr>
            </a:pPr>
            <a:r>
              <a:t>You have now built the full Creciendo Juntos Theory of Change.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Layer 1 (BLACK): Results chain -- from Exercise 1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Inputs --&gt; Activities --&gt; Outputs --&gt; Outcomes --&gt; Impact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2C5F8A"/>
                </a:solidFill>
                <a:latin typeface="Calibri"/>
              </a:defRPr>
            </a:pPr>
            <a:r>
              <a:t>Layer 2 (BLUE): Behavioral mechanism (COM-B) -- from Exercise 2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Capability + Opportunity + Motivation --&gt; Behavior change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E86C00"/>
                </a:solidFill>
                <a:latin typeface="Calibri"/>
              </a:defRPr>
            </a:pPr>
            <a:r>
              <a:t>Layer 3 (ORANGE): Causal assumptions, classified by level -- from Exercise 3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Reach | Capacity | Behavior | Outcome assumptions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757575"/>
                </a:solidFill>
                <a:latin typeface="Calibri"/>
              </a:defRPr>
            </a:pPr>
            <a:r>
              <a:t>Layer 4 (GREY): External influence arrows -- from Exercise 4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Contextual factors and rival explanations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900" b="1" i="1">
                <a:solidFill>
                  <a:srgbClr val="E86C00"/>
                </a:solidFill>
                <a:latin typeface="Calibri"/>
              </a:defRPr>
            </a:pPr>
            <a:r>
              <a:t>This is a Theory of Change. It is not a diagram -- it is an argument.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700" b="0" i="1">
                <a:solidFill>
                  <a:srgbClr val="333333"/>
                </a:solidFill>
                <a:latin typeface="Calibri"/>
              </a:defRPr>
            </a:pPr>
            <a:r>
              <a:t>You can now use it to design evaluation questions, select indicators, and assess your contribution claim.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BBDEFB"/>
                </a:solidFill>
                <a:latin typeface="Calibri"/>
              </a:rPr>
              <a:t>BLOCK 5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M&amp;E and Bridge to Session 2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600" b="0" i="0">
                <a:solidFill>
                  <a:srgbClr val="BBDEFB"/>
                </a:solidFill>
                <a:latin typeface="Calibri"/>
              </a:defRPr>
            </a:pPr>
            <a:r>
              <a:t>~30 minutes  |  Slides 33-41  |  Exercise 5 (optional)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4389120"/>
            <a:ext cx="3657600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ToC and Evaluation Questions: Making the Theory Testable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Critical Assumption (from Ex. 3)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Evaluation Question It Generates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Behavior: Caregivers change daily practices,</a:t>
                      </a:r>
                    </a:p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not just session behavior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Did caregivers change their daily interaction</a:t>
                      </a:r>
                    </a:p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behavior at home? For whom? To what extent?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Outcome: Changed behavior sustained 18 months</a:t>
                      </a:r>
                    </a:p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produces developmental gains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Is there a relationship between intensity of</a:t>
                      </a:r>
                    </a:p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behavior change and child outcomes?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Reach: Facilitators retained in communities</a:t>
                      </a:r>
                    </a:p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for program duration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What is facilitator turnover rate and how does</a:t>
                      </a:r>
                    </a:p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it affect session continuity and caregiver trust?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Monitoring: Watching the ToC Unfold in Real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Monitoring observes: reach, outputs, and early behavioral signals.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Monitoring does NOT test the ToC -- it signals whether conditions for the ToC to function are present.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E86C00"/>
                </a:solidFill>
                <a:latin typeface="Calibri"/>
              </a:defRPr>
            </a:pPr>
            <a:r>
              <a:t>Example: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If monitoring shows low attendance --&gt; reach assumption may be breaking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--&gt; evaluator can investigate before outcomes are affected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2C5F8A"/>
                </a:solidFill>
                <a:latin typeface="Calibri"/>
              </a:defRPr>
            </a:pPr>
            <a:r>
              <a:t>Connection to Session 2: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What you monitor is determined by your ToC.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In Session 2, we take this results chain and ask: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333333"/>
                </a:solidFill>
                <a:latin typeface="Calibri"/>
              </a:defRPr>
            </a:pPr>
            <a:r>
              <a:t>  What indicator would tell us whether each level is happening?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1" i="1">
                <a:solidFill>
                  <a:srgbClr val="333333"/>
                </a:solidFill>
                <a:latin typeface="Calibri"/>
              </a:defRPr>
            </a:pPr>
            <a:r>
              <a:t>  That is the Results Matrix.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Voices from the Field: Why the ToC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875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1">
                <a:solidFill>
                  <a:srgbClr val="333333"/>
                </a:solidFill>
                <a:latin typeface="Calibri"/>
              </a:defRPr>
            </a:pPr>
            <a:r>
              <a:t>"I love my daughter, but I honestly do not know what to do with her all day." -- Maria, 22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700" b="0" i="1">
                <a:solidFill>
                  <a:srgbClr val="333333"/>
                </a:solidFill>
                <a:latin typeface="Calibri"/>
              </a:defRPr>
            </a:pPr>
            <a:r>
              <a:t>"I am alone all day with three children under five." -- Carmen, 27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700" b="0" i="1">
                <a:solidFill>
                  <a:srgbClr val="333333"/>
                </a:solidFill>
                <a:latin typeface="Calibri"/>
              </a:defRPr>
            </a:pPr>
            <a:r>
              <a:t>"These young mothers do not know how to discipline. A smack teaches respect." -- Dona Rosa, 58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700" b="0" i="1">
                <a:solidFill>
                  <a:srgbClr val="333333"/>
                </a:solidFill>
                <a:latin typeface="Calibri"/>
              </a:defRPr>
            </a:pPr>
            <a:r>
              <a:t>"My job is to provide money. I would be the only man there." -- Diego, 28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700" b="0" i="1">
                <a:solidFill>
                  <a:srgbClr val="333333"/>
                </a:solidFill>
                <a:latin typeface="Calibri"/>
              </a:defRPr>
            </a:pPr>
            <a:r>
              <a:t>"The health center makes me feel stupid. The nurse says read to my baby. I do not have books." -- Valeria, 15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1800"/>
              </a:spcBef>
              <a:spcAft>
                <a:spcPts val="400"/>
              </a:spcAft>
              <a:defRPr sz="1600" b="1" i="0">
                <a:solidFill>
                  <a:srgbClr val="4A148C"/>
                </a:solidFill>
                <a:latin typeface="Calibri"/>
              </a:defRPr>
            </a:pPr>
            <a:r>
              <a:t>Mendoza's synthesis: the challenge was not merely lack of services but a complex intersection of limited knowledge, conflicting beliefs, social isolation, structural barriers, and rigid gender norms.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0" i="1">
                <a:solidFill>
                  <a:srgbClr val="757575"/>
                </a:solidFill>
                <a:latin typeface="Calibri"/>
              </a:defRPr>
            </a:pPr>
            <a:r>
              <a:t>Source: S1_Narrative_Handout -- Family Listening Sessions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565C0"/>
                </a:solidFill>
                <a:latin typeface="Calibri"/>
              </a:rPr>
              <a:t>EXERCISE  </a:t>
            </a:r>
            <a:r>
              <a:rPr sz="1400" b="0" i="0">
                <a:solidFill>
                  <a:srgbClr val="757575"/>
                </a:solidFill>
                <a:latin typeface="Calibri"/>
              </a:rPr>
              <a:t>8 min (optional)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600" b="1" i="0">
                <a:solidFill>
                  <a:srgbClr val="1B3A5C"/>
                </a:solidFill>
                <a:latin typeface="Calibri"/>
              </a:defRPr>
            </a:pPr>
            <a:r>
              <a:t>Exercise 5: What Would You Monitor First? (Optional)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400" b="1" i="0">
                <a:solidFill>
                  <a:srgbClr val="757575"/>
                </a:solidFill>
                <a:latin typeface="Calibri"/>
              </a:defRPr>
            </a:pPr>
            <a:r>
              <a:t>8 min  |  Pairs  |  5 min pairs + 3 min share-out  |  Can be homework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Looking at the completed Creciendo Juntos ToC: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1. Choose the THREE variables you would monitor most closely in the first 6 months.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2. For each: (a) What would you measure?  (b) Who would you observe or survey?  (c) When?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3. Explain: Why these three? What would each tell you about whether the ToC is unfolding?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2C5F8A"/>
                </a:solidFill>
                <a:latin typeface="Calibri"/>
              </a:defRPr>
            </a:pPr>
            <a:r>
              <a:t>Note: These are proto-indicators. In Session 2, we formalize these into a Results Matrix.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1" i="0">
                <a:solidFill>
                  <a:srgbClr val="1565C0"/>
                </a:solidFill>
                <a:latin typeface="Calibri"/>
              </a:defRPr>
            </a:pPr>
            <a:r>
              <a:t>Cheat Sheet Ref: S1 Cheat Sheet, Exercise 5 -- Connecting ToC to Contribution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Evaluation: Testing the ToC at Outcome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2C5F8A"/>
                </a:solidFill>
                <a:latin typeface="Calibri"/>
              </a:defRPr>
            </a:pPr>
            <a:r>
              <a:t>Evaluation asks: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Did expected outcomes occur?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Did the theory's mechanisms function as hypothesized?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E86C00"/>
                </a:solidFill>
                <a:latin typeface="Calibri"/>
              </a:defRPr>
            </a:pPr>
            <a:r>
              <a:t>Contribution analysis (Session 5):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333333"/>
                </a:solidFill>
                <a:latin typeface="Calibri"/>
              </a:defRPr>
            </a:pPr>
            <a:r>
              <a:t>'Given what we observe, how strong is our claim that the program contributed to these outcomes?'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Evidence we can test (from Cheat Sheet S1):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- Knowledge surveys (did capability increase?)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- Peer network surveys (did opportunity expand?)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- Time-use data (did behavior actually change at home?)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- Observation rubrics (quality of caregiver-child interaction)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2C5F8A"/>
                </a:solidFill>
                <a:latin typeface="Calibri"/>
              </a:defRPr>
            </a:pPr>
            <a:r>
              <a:t>The ToC built today is the foundation of the contribution claim.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Every assumption identified is a piece of evidence to 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From ToC to Results Matrix: What Comes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TODAY YOU BUILT: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700" b="0" i="0">
                <a:solidFill>
                  <a:srgbClr val="333333"/>
                </a:solidFill>
                <a:latin typeface="Calibri"/>
              </a:defRPr>
            </a:pPr>
            <a:r>
              <a:t>A results chain (Exercise 1)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700" b="0" i="0">
                <a:solidFill>
                  <a:srgbClr val="333333"/>
                </a:solidFill>
                <a:latin typeface="Calibri"/>
              </a:defRPr>
            </a:pPr>
            <a:r>
              <a:t>A causal mechanism layer -- COM-B (Exercise 2)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700" b="0" i="0">
                <a:solidFill>
                  <a:srgbClr val="333333"/>
                </a:solidFill>
                <a:latin typeface="Calibri"/>
              </a:defRPr>
            </a:pPr>
            <a:r>
              <a:t>A classified assumption list (Exercise 3)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700" b="0" i="0">
                <a:solidFill>
                  <a:srgbClr val="333333"/>
                </a:solidFill>
                <a:latin typeface="Calibri"/>
              </a:defRPr>
            </a:pPr>
            <a:r>
              <a:t>An external influence map (Exercise 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18872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8A"/>
                </a:solidFill>
                <a:latin typeface="Calibri"/>
              </a:defRPr>
            </a:pPr>
            <a:r>
              <a:t>SESSION 2 WILL ASK: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700" b="0" i="0">
                <a:solidFill>
                  <a:srgbClr val="333333"/>
                </a:solidFill>
                <a:latin typeface="Calibri"/>
              </a:defRPr>
            </a:pPr>
            <a:r>
              <a:t>What indicator tells us whether each level is happening?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700" b="0" i="0">
                <a:solidFill>
                  <a:srgbClr val="333333"/>
                </a:solidFill>
                <a:latin typeface="Calibri"/>
              </a:defRPr>
            </a:pPr>
            <a:r>
              <a:t>What source? What frequency? What baseline?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spcAft>
                <a:spcPts val="400"/>
              </a:spcAft>
              <a:defRPr sz="1600" b="1" i="0">
                <a:solidFill>
                  <a:srgbClr val="E86C00"/>
                </a:solidFill>
                <a:latin typeface="Calibri"/>
              </a:defRPr>
            </a:pPr>
            <a:r>
              <a:t>PREVIEW -- One Row of the Results Matrix: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Level: Caregiver behavior change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Indicator: % caregivers with &gt;= 3 responsive interactions/hour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Baseline: 15% at enrollment  |  Target: 65% at Month 9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Source: Structured observation (Months 3, 6, 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BBDEFB"/>
                </a:solidFill>
                <a:latin typeface="Calibri"/>
              </a:rPr>
              <a:t>CLOSURE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Takeaways and Next Steps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600" b="0" i="0">
                <a:solidFill>
                  <a:srgbClr val="BBDEFB"/>
                </a:solidFill>
                <a:latin typeface="Calibri"/>
              </a:defRPr>
            </a:pPr>
            <a:r>
              <a:t>~15 minutes  |  Slides 40-44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4389120"/>
            <a:ext cx="3657600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Key Takeaways: Returning to the 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2C5F8A"/>
                </a:solidFill>
                <a:latin typeface="Calibri"/>
              </a:defRPr>
            </a:pPr>
            <a:r>
              <a:t>1. Frame complex interventions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 Creciendo Juntos reaches caregivers to change children; the indirect pathway is the mechanism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2C5F8A"/>
                </a:solidFill>
                <a:latin typeface="Calibri"/>
              </a:defRPr>
            </a:pPr>
            <a:r>
              <a:t>2. Explain theory-based evaluation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 The results chain alone is insufficient; mechanisms, assumptions, and external influences are essential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2C5F8A"/>
                </a:solidFill>
                <a:latin typeface="Calibri"/>
              </a:defRPr>
            </a:pPr>
            <a:r>
              <a:t>3. Describe a Theory of Change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 Four layers: results chain, mechanisms, assumptions, external influences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2C5F8A"/>
                </a:solidFill>
                <a:latin typeface="Calibri"/>
              </a:defRPr>
            </a:pPr>
            <a:r>
              <a:t>4. Distinguish M&amp;E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 Monitoring watches the ToC unfold; evaluation tests whether it held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2C5F8A"/>
                </a:solidFill>
                <a:latin typeface="Calibri"/>
              </a:defRPr>
            </a:pPr>
            <a:r>
              <a:t>5. Formulate evaluation questions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 Each critical assumption generates a specific evaluative question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600" b="0" i="1">
                <a:solidFill>
                  <a:srgbClr val="E86C00"/>
                </a:solidFill>
                <a:latin typeface="Calibri"/>
              </a:defRPr>
            </a:pPr>
            <a:r>
              <a:t>Closing reflection: Think of a program you work with. What is the most critical assumption -- the one that, if violated, means the program could deliver everything planned and still fail?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BEFORE SESSION 2 -- READ: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1400"/>
              </a:spcBef>
              <a:spcAft>
                <a:spcPts val="40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S2_Narrative_Handout: Program Design and Implementation Structure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700" b="0" i="0">
                <a:solidFill>
                  <a:srgbClr val="BBDEFB"/>
                </a:solidFill>
                <a:latin typeface="Calibri"/>
              </a:defRPr>
            </a:pPr>
            <a:r>
              <a:t>Focus on: How are the four components coordinated? What roles do facilitators, health staff, and coordinators play?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spcAft>
                <a:spcPts val="400"/>
              </a:spcAft>
              <a:defRPr sz="1700" b="0" i="0">
                <a:solidFill>
                  <a:srgbClr val="BBDEFB"/>
                </a:solidFill>
                <a:latin typeface="Calibri"/>
              </a:defRPr>
            </a:pPr>
            <a:r>
              <a:t>In Session 2, we will use this program design to populate a full Results Matrix -- one indicator set per results chain level.</a:t>
            </a:r>
          </a:p>
          <a:p>
            <a:pPr algn="l">
              <a:spcBef>
                <a:spcPts val="2000"/>
              </a:spcBef>
              <a:spcAft>
                <a:spcPts val="400"/>
              </a:spcAft>
              <a:defRPr sz="1800" b="1" i="0">
                <a:solidFill>
                  <a:srgbClr val="E86C00"/>
                </a:solidFill>
                <a:latin typeface="Calibri"/>
              </a:defRPr>
            </a:pPr>
            <a:r>
              <a:t>Bring your completed ToC templates from today's exercises.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500" b="0" i="0">
                <a:solidFill>
                  <a:srgbClr val="88AACC"/>
                </a:solidFill>
                <a:latin typeface="Calibri"/>
              </a:defRPr>
            </a:pPr>
            <a:r>
              <a:t>Estimated reading time: 15-20 minutes.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Closing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757575"/>
                </a:solidFill>
                <a:latin typeface="Calibri"/>
              </a:defRPr>
            </a:pPr>
            <a:r>
              <a:t>Standard course satisfaction items (per OVE format)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000" b="1" i="0">
                <a:solidFill>
                  <a:srgbClr val="2C5F8A"/>
                </a:solidFill>
                <a:latin typeface="Calibri"/>
              </a:defRPr>
            </a:pPr>
            <a:r>
              <a:t>Formative assessment: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Q1: In one sentence: what is the causal mechanism in the Creciendo Juntos Theory of Change?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Q2: What is the most critical assumption in a Theory of Change you currently work with?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400" b="0" i="1">
                <a:solidFill>
                  <a:srgbClr val="757575"/>
                </a:solidFill>
                <a:latin typeface="Calibri"/>
              </a:defRPr>
            </a:pPr>
            <a:r>
              <a:t>These items feed directly into the EVALAC pre/post evaluation.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Reference: Glossary of 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Theory of Change: Causal argument explaining how/why an intervention produces change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Results Chain: Linear sequence from inputs to impact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Causal Mechanism: Process through which an output produces an outcome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COM-B: Capability + Opportunity + Motivation --&gt; Behavior (Michie et al.)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Causal Assumption: Condition that must hold for one results level to produce the next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Critical Assumption: Essential, uncertain, and testable assumption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Direct Outcome: Change in the group directly reached by the program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Distal Outcome: Change in the group ultimately targeted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External Influence: Factor outside program control affecting outcomes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Rival Explanation: Alternative cause of observed outcomes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Monitoring: Continuous tracking of outputs and early outcomes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Evaluation: Periodic assessment of whether the ToC held and why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Contribution Analysis: Method for assessing strength of program's contribution claim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Results Matrix: Framework linking each results level to indicators, sources, and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Reference: Creciendo Juntos -- Full Annotated Theory of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400" b="0" i="0">
                <a:solidFill>
                  <a:srgbClr val="333333"/>
                </a:solidFill>
                <a:latin typeface="Calibri"/>
              </a:defRPr>
            </a:pPr>
            <a:r>
              <a:t>INPUTS: 750 facilitators, curriculum, USD 285M, health center staff, coordinators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 i="0">
                <a:solidFill>
                  <a:srgbClr val="333333"/>
                </a:solidFill>
                <a:latin typeface="Calibri"/>
              </a:defRPr>
            </a:pPr>
            <a:r>
              <a:t>  --&gt; ACTIVITIES: Parenting sessions (36/yr), home visits, growth monitoring, learning centers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 i="0">
                <a:solidFill>
                  <a:srgbClr val="333333"/>
                </a:solidFill>
                <a:latin typeface="Calibri"/>
              </a:defRPr>
            </a:pPr>
            <a:r>
              <a:t>    --&gt; OUTPUTS: 85,000 caregivers, 36 sessions/group/yr, 750 facilitators deployed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400" b="1" i="0">
                <a:solidFill>
                  <a:srgbClr val="2C5F8A"/>
                </a:solidFill>
                <a:latin typeface="Calibri"/>
              </a:defRPr>
            </a:pPr>
            <a:r>
              <a:t>COM-B MECHANISM (caregiver):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333333"/>
                </a:solidFill>
                <a:latin typeface="Calibri"/>
              </a:defRPr>
            </a:pPr>
            <a:r>
              <a:t>  C: Knowledge of milestones + responsive interaction skills + self-efficacy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333333"/>
                </a:solidFill>
                <a:latin typeface="Calibri"/>
              </a:defRPr>
            </a:pPr>
            <a:r>
              <a:t>  O: Peer support + materials + health services access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333333"/>
                </a:solidFill>
                <a:latin typeface="Calibri"/>
              </a:defRPr>
            </a:pPr>
            <a:r>
              <a:t>  M: Child's positive response + peer norms + new parental identity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333333"/>
                </a:solidFill>
                <a:latin typeface="Calibri"/>
              </a:defRPr>
            </a:pPr>
            <a:r>
              <a:t>  B: Responsive interaction UP, positive discipline, enriched home environment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400" b="0" i="0">
                <a:solidFill>
                  <a:srgbClr val="333333"/>
                </a:solidFill>
                <a:latin typeface="Calibri"/>
              </a:defRPr>
            </a:pPr>
            <a:r>
              <a:t>  --&gt; OUTCOMES (direct): Caregiver behavior change sustained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 i="0">
                <a:solidFill>
                  <a:srgbClr val="333333"/>
                </a:solidFill>
                <a:latin typeface="Calibri"/>
              </a:defRPr>
            </a:pPr>
            <a:r>
              <a:t>    --&gt; OUTCOMES (distal): Child development (language, motor, social-emotional)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 i="0">
                <a:solidFill>
                  <a:srgbClr val="333333"/>
                </a:solidFill>
                <a:latin typeface="Calibri"/>
              </a:defRPr>
            </a:pPr>
            <a:r>
              <a:t>      --&gt; IMPACT: 65% age-appropriate development by 24 months (vs 35% baseline)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E86C00"/>
                </a:solidFill>
                <a:latin typeface="Calibri"/>
              </a:defRPr>
            </a:pPr>
            <a:r>
              <a:t>ASSUMPTIONS: Reach (recruitment/retention) | Capacity (session quality) | Behavior (knowledge--&gt;action) | Outcome (dose-response)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757575"/>
                </a:solidFill>
                <a:latin typeface="Calibri"/>
              </a:defRPr>
            </a:pPr>
            <a:r>
              <a:t>EXTERNAL: Economic conditions | Political stability | Other programs (CCTs) | Natural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Reference: Results Matrix Preview -- One Completed Row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515600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640079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Element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Content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Results chain level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Caregiver behavior change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Indicator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% of caregivers observed engaging in &gt;= 3 responsive</a:t>
                      </a:r>
                    </a:p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interaction activities per hour during structured home visit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Behavioral (mechanism) indicator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15% of caregivers at enrollment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65% at Month 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Structured observation at home visits (Months 3, 6, 9)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Reference: COM-B Lens Card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Guiding Question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What a person knows and can do</a:t>
                      </a:r>
                    </a:p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(physical + psychological)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What must this person know or be</a:t>
                      </a:r>
                    </a:p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able to do that they currently cannot?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OPPORTUNITY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What the environment enables</a:t>
                      </a:r>
                    </a:p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or constrains (physical + social)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What conditions must be present</a:t>
                      </a:r>
                    </a:p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for the behavior to occur?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MOTIVATION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What drives action</a:t>
                      </a:r>
                    </a:p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(reflective + automatic)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What must shift in their sense of</a:t>
                      </a:r>
                    </a:p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purpose, identity, or habit?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BEHAVIOR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Observable action that</a:t>
                      </a:r>
                    </a:p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produces the outcome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What specific, measurable action</a:t>
                      </a:r>
                    </a:p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should change?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Reference: Assumption Classification Card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Assumption Type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Results Chain Link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Format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CJ Example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Can program reach</a:t>
                      </a:r>
                    </a:p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intended population?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IF [reach condition],</a:t>
                      </a:r>
                    </a:p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THEN [population accessed]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Facilitators recruited and</a:t>
                      </a:r>
                    </a:p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retained in 180 municipalities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CAPACITY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Does intervention build</a:t>
                      </a:r>
                    </a:p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required COM-B shift?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IF [quality condition],</a:t>
                      </a:r>
                    </a:p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THEN [COM-B shift occurs]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Sessions delivered with quality</a:t>
                      </a:r>
                    </a:p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sufficient to build capability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BEHAVIOR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Does changed COM-B</a:t>
                      </a:r>
                    </a:p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produce behavior?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IF [COM-B present],</a:t>
                      </a:r>
                    </a:p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THEN [behavior changes]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Knowledge + motivation translate</a:t>
                      </a:r>
                    </a:p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 daily practice at home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OUTCOME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Does behavior produce</a:t>
                      </a:r>
                    </a:p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expected outcome?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IF [behavior sustained],</a:t>
                      </a:r>
                    </a:p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THEN [outcome observed]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18+ months of changed behavior</a:t>
                      </a:r>
                    </a:p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produces developmental gains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Reference: Key Readings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2C5F8A"/>
                </a:solidFill>
                <a:latin typeface="Calibri"/>
              </a:defRPr>
            </a:pPr>
            <a:r>
              <a:t>Foundational: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 i="0">
                <a:solidFill>
                  <a:srgbClr val="333333"/>
                </a:solidFill>
                <a:latin typeface="Calibri"/>
              </a:defRPr>
            </a:pPr>
            <a:r>
              <a:t>  Rogers, P. (2008). Using Programme Theory to Evaluate Complicated and Complex Aspects of Interventions. Evaluation, 14(1), 29-48.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 i="0">
                <a:solidFill>
                  <a:srgbClr val="333333"/>
                </a:solidFill>
                <a:latin typeface="Calibri"/>
              </a:defRPr>
            </a:pPr>
            <a:r>
              <a:t>  Koleros, A. &amp; Mayne, J. (2017). Using Actor-Based Theories of Change. Journal of Development Effectiveness, 9(4), 439-460.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2C5F8A"/>
                </a:solidFill>
                <a:latin typeface="Calibri"/>
              </a:defRPr>
            </a:pPr>
            <a:r>
              <a:t>Contribution Analysis: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 i="0">
                <a:solidFill>
                  <a:srgbClr val="333333"/>
                </a:solidFill>
                <a:latin typeface="Calibri"/>
              </a:defRPr>
            </a:pPr>
            <a:r>
              <a:t>  Mayne, J. (2012). Contribution Analysis: Coming of Age? Evaluation, 18(3), 270-280.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 i="0">
                <a:solidFill>
                  <a:srgbClr val="333333"/>
                </a:solidFill>
                <a:latin typeface="Calibri"/>
              </a:defRPr>
            </a:pPr>
            <a:r>
              <a:t>  Mayne, J. ILAC Brief on Contribution Analysis.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2C5F8A"/>
                </a:solidFill>
                <a:latin typeface="Calibri"/>
              </a:defRPr>
            </a:pPr>
            <a:r>
              <a:t>Behavioral Science: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 i="0">
                <a:solidFill>
                  <a:srgbClr val="333333"/>
                </a:solidFill>
                <a:latin typeface="Calibri"/>
              </a:defRPr>
            </a:pPr>
            <a:r>
              <a:t>  Michie, S., van Stralen, M.M. &amp; West, R. (2011). The Behaviour Change Wheel. Implementation Science, 6:42.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2C5F8A"/>
                </a:solidFill>
                <a:latin typeface="Calibri"/>
              </a:defRPr>
            </a:pPr>
            <a:r>
              <a:t>Early Childhood Development: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 i="0">
                <a:solidFill>
                  <a:srgbClr val="333333"/>
                </a:solidFill>
                <a:latin typeface="Calibri"/>
              </a:defRPr>
            </a:pPr>
            <a:r>
              <a:t>  Britto, P. et al. (2017). Nurturing Care: Promoting Early Childhood Development. Lancet.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 i="0">
                <a:solidFill>
                  <a:srgbClr val="333333"/>
                </a:solidFill>
                <a:latin typeface="Calibri"/>
              </a:defRPr>
            </a:pPr>
            <a:r>
              <a:t>  Gertler, P. et al. (2014). Labor Market Returns to Jamaica Reach Up Program. Science, 344(6187).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EVALAC I -- Session 1</a:t>
            </a:r>
            <a:br/>
            <a:r>
              <a:t>Introduction to M&amp;E and Theory of Change</a:t>
            </a:r>
          </a:p>
          <a:p>
            <a:pPr algn="l">
              <a:spcBef>
                <a:spcPts val="1600"/>
              </a:spcBef>
              <a:spcAft>
                <a:spcPts val="400"/>
              </a:spcAft>
              <a:defRPr sz="2000" b="0" i="0">
                <a:solidFill>
                  <a:srgbClr val="FFFFFF"/>
                </a:solidFill>
                <a:latin typeface="Calibri"/>
              </a:defRPr>
            </a:pPr>
            <a:r>
              <a:t>CLEAR-LAB  |  IDB  |  OVE</a:t>
            </a:r>
            <a:br/>
            <a:br/>
            <a:r>
              <a:t>Acknowledgments: Course design informed by BID/OVE feedback cycle.</a:t>
            </a:r>
            <a:br/>
            <a:r>
              <a:t>Case study: Creciendo Juntos (fictional, based on evidence from LAC ECD programs).</a:t>
            </a:r>
            <a:br/>
            <a:r>
              <a:t>COM-B framework: Michie, van Stralen &amp; West (2011).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